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8" r:id="rId8"/>
    <p:sldId id="263" r:id="rId9"/>
    <p:sldId id="264" r:id="rId10"/>
    <p:sldId id="265" r:id="rId11"/>
    <p:sldId id="266" r:id="rId12"/>
    <p:sldId id="269" r:id="rId13"/>
    <p:sldId id="271" r:id="rId14"/>
    <p:sldId id="270" r:id="rId15"/>
    <p:sldId id="272" r:id="rId16"/>
    <p:sldId id="274" r:id="rId17"/>
    <p:sldId id="275" r:id="rId18"/>
    <p:sldId id="276"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C38C4F-C4DC-4EFB-8337-7BAFD0929F71}"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3791017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C38C4F-C4DC-4EFB-8337-7BAFD0929F71}"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1244748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C38C4F-C4DC-4EFB-8337-7BAFD0929F71}"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1427805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C38C4F-C4DC-4EFB-8337-7BAFD0929F71}"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2461801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C38C4F-C4DC-4EFB-8337-7BAFD0929F71}" type="datetimeFigureOut">
              <a:rPr lang="en-IN" smtClean="0"/>
              <a:t>13-03-2026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1131127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C38C4F-C4DC-4EFB-8337-7BAFD0929F71}" type="datetimeFigureOut">
              <a:rPr lang="en-IN" smtClean="0"/>
              <a:t>13-03-2026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4252782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C38C4F-C4DC-4EFB-8337-7BAFD0929F71}" type="datetimeFigureOut">
              <a:rPr lang="en-IN" smtClean="0"/>
              <a:t>13-03-2026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2695609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C38C4F-C4DC-4EFB-8337-7BAFD0929F71}"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113479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C38C4F-C4DC-4EFB-8337-7BAFD0929F71}"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3693692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C38C4F-C4DC-4EFB-8337-7BAFD0929F71}"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280744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C38C4F-C4DC-4EFB-8337-7BAFD0929F71}"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359157-1B7C-4B18-9FC2-2CB908A88EB2}"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76172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C38C4F-C4DC-4EFB-8337-7BAFD0929F71}"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2489099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C38C4F-C4DC-4EFB-8337-7BAFD0929F71}"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359157-1B7C-4B18-9FC2-2CB908A88EB2}"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259640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C38C4F-C4DC-4EFB-8337-7BAFD0929F71}"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2864170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C38C4F-C4DC-4EFB-8337-7BAFD0929F71}"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3318762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C38C4F-C4DC-4EFB-8337-7BAFD0929F71}"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359157-1B7C-4B18-9FC2-2CB908A88EB2}" type="slidenum">
              <a:rPr lang="en-IN" smtClean="0"/>
              <a:t>‹#›</a:t>
            </a:fld>
            <a:endParaRPr lang="en-IN"/>
          </a:p>
        </p:txBody>
      </p:sp>
    </p:spTree>
    <p:extLst>
      <p:ext uri="{BB962C8B-B14F-4D97-AF65-F5344CB8AC3E}">
        <p14:creationId xmlns:p14="http://schemas.microsoft.com/office/powerpoint/2010/main" val="3065834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4C38C4F-C4DC-4EFB-8337-7BAFD0929F71}" type="datetimeFigureOut">
              <a:rPr lang="en-IN" smtClean="0"/>
              <a:t>13-03-2026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0359157-1B7C-4B18-9FC2-2CB908A88EB2}" type="slidenum">
              <a:rPr lang="en-IN" smtClean="0"/>
              <a:t>‹#›</a:t>
            </a:fld>
            <a:endParaRPr lang="en-IN"/>
          </a:p>
        </p:txBody>
      </p:sp>
    </p:spTree>
    <p:extLst>
      <p:ext uri="{BB962C8B-B14F-4D97-AF65-F5344CB8AC3E}">
        <p14:creationId xmlns:p14="http://schemas.microsoft.com/office/powerpoint/2010/main" val="28950145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B6F6-0B07-E47A-24BF-2C1C979F6B16}"/>
              </a:ext>
            </a:extLst>
          </p:cNvPr>
          <p:cNvSpPr>
            <a:spLocks noGrp="1"/>
          </p:cNvSpPr>
          <p:nvPr>
            <p:ph type="ctrTitle"/>
          </p:nvPr>
        </p:nvSpPr>
        <p:spPr>
          <a:xfrm>
            <a:off x="1524000" y="1328841"/>
            <a:ext cx="9144000" cy="1266876"/>
          </a:xfrm>
        </p:spPr>
        <p:txBody>
          <a:bodyPr/>
          <a:lstStyle/>
          <a:p>
            <a:r>
              <a:rPr lang="en-US" dirty="0"/>
              <a:t>Northwind Sales Analytics</a:t>
            </a:r>
            <a:endParaRPr lang="en-IN" dirty="0"/>
          </a:p>
        </p:txBody>
      </p:sp>
      <p:sp>
        <p:nvSpPr>
          <p:cNvPr id="3" name="Subtitle 2">
            <a:extLst>
              <a:ext uri="{FF2B5EF4-FFF2-40B4-BE49-F238E27FC236}">
                <a16:creationId xmlns:a16="http://schemas.microsoft.com/office/drawing/2014/main" id="{EC13C690-6D72-9D88-CF35-876B3DAC6092}"/>
              </a:ext>
            </a:extLst>
          </p:cNvPr>
          <p:cNvSpPr>
            <a:spLocks noGrp="1"/>
          </p:cNvSpPr>
          <p:nvPr>
            <p:ph type="subTitle" idx="1"/>
          </p:nvPr>
        </p:nvSpPr>
        <p:spPr>
          <a:xfrm>
            <a:off x="1524000" y="2595717"/>
            <a:ext cx="9144000" cy="3746089"/>
          </a:xfrm>
        </p:spPr>
        <p:txBody>
          <a:bodyPr>
            <a:normAutofit/>
          </a:bodyPr>
          <a:lstStyle/>
          <a:p>
            <a:r>
              <a:rPr lang="en-US" dirty="0"/>
              <a:t>Exploratory Data Analysis and Business Intelligence</a:t>
            </a:r>
          </a:p>
          <a:p>
            <a:endParaRPr lang="en-US" dirty="0"/>
          </a:p>
          <a:p>
            <a:endParaRPr lang="en-US" dirty="0"/>
          </a:p>
          <a:p>
            <a:endParaRPr lang="en-US" dirty="0"/>
          </a:p>
          <a:p>
            <a:endParaRPr lang="en-US" dirty="0"/>
          </a:p>
          <a:p>
            <a:pPr algn="r"/>
            <a:r>
              <a:rPr lang="en-US" dirty="0"/>
              <a:t>By: Tarun Singhal</a:t>
            </a:r>
          </a:p>
          <a:p>
            <a:pPr algn="r"/>
            <a:r>
              <a:rPr lang="en-US" dirty="0"/>
              <a:t>Role: Data Analytics Project</a:t>
            </a:r>
          </a:p>
          <a:p>
            <a:pPr algn="r"/>
            <a:r>
              <a:rPr lang="en-US" dirty="0"/>
              <a:t>Tools Used: Excel, Power BI</a:t>
            </a:r>
          </a:p>
          <a:p>
            <a:pPr algn="r"/>
            <a:r>
              <a:rPr lang="en-US" dirty="0"/>
              <a:t>Date</a:t>
            </a:r>
            <a:r>
              <a:rPr lang="en-IN" dirty="0"/>
              <a:t>: 12</a:t>
            </a:r>
            <a:r>
              <a:rPr lang="en-IN" baseline="30000" dirty="0"/>
              <a:t>th</a:t>
            </a:r>
            <a:r>
              <a:rPr lang="en-IN" dirty="0"/>
              <a:t> March 2026</a:t>
            </a:r>
            <a:endParaRPr lang="en-US" dirty="0"/>
          </a:p>
        </p:txBody>
      </p:sp>
    </p:spTree>
    <p:extLst>
      <p:ext uri="{BB962C8B-B14F-4D97-AF65-F5344CB8AC3E}">
        <p14:creationId xmlns:p14="http://schemas.microsoft.com/office/powerpoint/2010/main" val="2122503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85C95-4348-B882-A2EB-B53AB3591164}"/>
              </a:ext>
            </a:extLst>
          </p:cNvPr>
          <p:cNvSpPr>
            <a:spLocks noGrp="1"/>
          </p:cNvSpPr>
          <p:nvPr>
            <p:ph type="title"/>
          </p:nvPr>
        </p:nvSpPr>
        <p:spPr/>
        <p:txBody>
          <a:bodyPr/>
          <a:lstStyle/>
          <a:p>
            <a:r>
              <a:rPr lang="en-IN" b="1" dirty="0"/>
              <a:t>Project Overview</a:t>
            </a:r>
            <a:endParaRPr lang="en-IN" dirty="0"/>
          </a:p>
        </p:txBody>
      </p:sp>
      <p:sp>
        <p:nvSpPr>
          <p:cNvPr id="3" name="Content Placeholder 2">
            <a:extLst>
              <a:ext uri="{FF2B5EF4-FFF2-40B4-BE49-F238E27FC236}">
                <a16:creationId xmlns:a16="http://schemas.microsoft.com/office/drawing/2014/main" id="{A1DB7850-7785-EA84-7813-5488B8A9BE0E}"/>
              </a:ext>
            </a:extLst>
          </p:cNvPr>
          <p:cNvSpPr>
            <a:spLocks noGrp="1"/>
          </p:cNvSpPr>
          <p:nvPr>
            <p:ph idx="1"/>
          </p:nvPr>
        </p:nvSpPr>
        <p:spPr>
          <a:xfrm>
            <a:off x="2589212" y="2133600"/>
            <a:ext cx="8915400" cy="4100290"/>
          </a:xfrm>
        </p:spPr>
        <p:txBody>
          <a:bodyPr/>
          <a:lstStyle/>
          <a:p>
            <a:pPr marL="0" indent="0">
              <a:buNone/>
            </a:pPr>
            <a:r>
              <a:rPr lang="en-US" dirty="0"/>
              <a:t>This project analyzes a multi-table retail dataset to uncover insights related to </a:t>
            </a:r>
            <a:r>
              <a:rPr lang="en-US" b="1" dirty="0"/>
              <a:t>customer behavior, product demand, sales performance, and supplier operations</a:t>
            </a:r>
            <a:r>
              <a:rPr lang="en-US" dirty="0"/>
              <a:t>.</a:t>
            </a:r>
          </a:p>
          <a:p>
            <a:pPr marL="0" indent="0">
              <a:buNone/>
            </a:pPr>
            <a:endParaRPr lang="en-US" dirty="0"/>
          </a:p>
          <a:p>
            <a:pPr marL="0" indent="0">
              <a:buNone/>
            </a:pPr>
            <a:r>
              <a:rPr lang="en-US" dirty="0"/>
              <a:t>The analysis was performed using </a:t>
            </a:r>
            <a:r>
              <a:rPr lang="en-US" b="1" dirty="0"/>
              <a:t>Excel and Power BI</a:t>
            </a:r>
            <a:r>
              <a:rPr lang="en-US" dirty="0"/>
              <a:t>, applying techniques such as:</a:t>
            </a:r>
          </a:p>
          <a:p>
            <a:r>
              <a:rPr lang="en-US" dirty="0"/>
              <a:t>Exploratory Data Analysis (EDA)</a:t>
            </a:r>
          </a:p>
          <a:p>
            <a:r>
              <a:rPr lang="en-US" dirty="0"/>
              <a:t>Data modeling</a:t>
            </a:r>
          </a:p>
          <a:p>
            <a:r>
              <a:rPr lang="en-US" dirty="0"/>
              <a:t>Pivot analysis</a:t>
            </a:r>
          </a:p>
          <a:p>
            <a:r>
              <a:rPr lang="en-US" dirty="0"/>
              <a:t>Statistical analysis</a:t>
            </a:r>
          </a:p>
          <a:p>
            <a:r>
              <a:rPr lang="en-US" dirty="0"/>
              <a:t>Interactive dashboard creation</a:t>
            </a:r>
          </a:p>
          <a:p>
            <a:endParaRPr lang="en-IN" dirty="0"/>
          </a:p>
        </p:txBody>
      </p:sp>
    </p:spTree>
    <p:extLst>
      <p:ext uri="{BB962C8B-B14F-4D97-AF65-F5344CB8AC3E}">
        <p14:creationId xmlns:p14="http://schemas.microsoft.com/office/powerpoint/2010/main" val="2453690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E2E0-63AE-8FE0-CF62-0426116F955F}"/>
              </a:ext>
            </a:extLst>
          </p:cNvPr>
          <p:cNvSpPr>
            <a:spLocks noGrp="1"/>
          </p:cNvSpPr>
          <p:nvPr>
            <p:ph type="title"/>
          </p:nvPr>
        </p:nvSpPr>
        <p:spPr/>
        <p:txBody>
          <a:bodyPr/>
          <a:lstStyle/>
          <a:p>
            <a:r>
              <a:rPr lang="en-IN" b="1" dirty="0"/>
              <a:t>Project Objective</a:t>
            </a:r>
          </a:p>
        </p:txBody>
      </p:sp>
      <p:sp>
        <p:nvSpPr>
          <p:cNvPr id="3" name="Content Placeholder 2">
            <a:extLst>
              <a:ext uri="{FF2B5EF4-FFF2-40B4-BE49-F238E27FC236}">
                <a16:creationId xmlns:a16="http://schemas.microsoft.com/office/drawing/2014/main" id="{201DD997-A7A8-6DD3-5253-3E7DBEEABB73}"/>
              </a:ext>
            </a:extLst>
          </p:cNvPr>
          <p:cNvSpPr>
            <a:spLocks noGrp="1"/>
          </p:cNvSpPr>
          <p:nvPr>
            <p:ph idx="1"/>
          </p:nvPr>
        </p:nvSpPr>
        <p:spPr/>
        <p:txBody>
          <a:bodyPr/>
          <a:lstStyle/>
          <a:p>
            <a:r>
              <a:rPr lang="en-US" dirty="0"/>
              <a:t>Understand customer purchasing behavior and segmentation.</a:t>
            </a:r>
          </a:p>
          <a:p>
            <a:r>
              <a:rPr lang="en-US" dirty="0"/>
              <a:t>Identify top-performing products and categories.</a:t>
            </a:r>
          </a:p>
          <a:p>
            <a:r>
              <a:rPr lang="en-US" dirty="0"/>
              <a:t>Analyze order trends and seasonal demand patterns.</a:t>
            </a:r>
          </a:p>
          <a:p>
            <a:r>
              <a:rPr lang="en-US" dirty="0"/>
              <a:t>Evaluate supplier distribution and pricing patterns.</a:t>
            </a:r>
          </a:p>
          <a:p>
            <a:r>
              <a:rPr lang="en-US" dirty="0"/>
              <a:t>Monitor employee and shipping performance.</a:t>
            </a:r>
          </a:p>
          <a:p>
            <a:r>
              <a:rPr lang="en-US" dirty="0"/>
              <a:t>Build interactive dashboards to support data-driven decisions.</a:t>
            </a:r>
            <a:endParaRPr lang="en-IN" dirty="0"/>
          </a:p>
        </p:txBody>
      </p:sp>
    </p:spTree>
    <p:extLst>
      <p:ext uri="{BB962C8B-B14F-4D97-AF65-F5344CB8AC3E}">
        <p14:creationId xmlns:p14="http://schemas.microsoft.com/office/powerpoint/2010/main" val="4209801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BF630316-3ECD-4DC0-1901-34FD3F3222A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68AE7E-6252-EA09-3162-B525965F19F5}"/>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b="1" dirty="0"/>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15D9663A-375E-A142-5671-459F7DBAE4D9}"/>
              </a:ext>
            </a:extLst>
          </p:cNvPr>
          <p:cNvSpPr>
            <a:spLocks noGrp="1"/>
          </p:cNvSpPr>
          <p:nvPr>
            <p:ph idx="1"/>
          </p:nvPr>
        </p:nvSpPr>
        <p:spPr>
          <a:xfrm>
            <a:off x="649225" y="2133600"/>
            <a:ext cx="3650278" cy="3759253"/>
          </a:xfrm>
        </p:spPr>
        <p:txBody>
          <a:bodyPr>
            <a:normAutofit/>
          </a:bodyPr>
          <a:lstStyle/>
          <a:p>
            <a:r>
              <a:rPr lang="en-US" dirty="0"/>
              <a:t>This table stores information about the company's suppliers. </a:t>
            </a:r>
          </a:p>
          <a:p>
            <a:r>
              <a:rPr lang="en-US" dirty="0"/>
              <a:t>It includes fields for supplier ID, company name, contact name, contact title, address, city, region, postal code, country, phone, fax, and home page.</a:t>
            </a:r>
          </a:p>
        </p:txBody>
      </p:sp>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3">
            <a:extLst>
              <a:ext uri="{FF2B5EF4-FFF2-40B4-BE49-F238E27FC236}">
                <a16:creationId xmlns:a16="http://schemas.microsoft.com/office/drawing/2014/main" id="{B18BA204-A246-4349-E6E6-4D05167CA00A}"/>
              </a:ext>
            </a:extLst>
          </p:cNvPr>
          <p:cNvGraphicFramePr>
            <a:graphicFrameLocks/>
          </p:cNvGraphicFramePr>
          <p:nvPr>
            <p:extLst>
              <p:ext uri="{D42A27DB-BD31-4B8C-83A1-F6EECF244321}">
                <p14:modId xmlns:p14="http://schemas.microsoft.com/office/powerpoint/2010/main" val="1562530397"/>
              </p:ext>
            </p:extLst>
          </p:nvPr>
        </p:nvGraphicFramePr>
        <p:xfrm>
          <a:off x="4937414" y="640080"/>
          <a:ext cx="6317837" cy="5252775"/>
        </p:xfrm>
        <a:graphic>
          <a:graphicData uri="http://schemas.openxmlformats.org/drawingml/2006/table">
            <a:tbl>
              <a:tblPr/>
              <a:tblGrid>
                <a:gridCol w="2074112">
                  <a:extLst>
                    <a:ext uri="{9D8B030D-6E8A-4147-A177-3AD203B41FA5}">
                      <a16:colId xmlns:a16="http://schemas.microsoft.com/office/drawing/2014/main" val="3469007660"/>
                    </a:ext>
                  </a:extLst>
                </a:gridCol>
                <a:gridCol w="1000570">
                  <a:extLst>
                    <a:ext uri="{9D8B030D-6E8A-4147-A177-3AD203B41FA5}">
                      <a16:colId xmlns:a16="http://schemas.microsoft.com/office/drawing/2014/main" val="1387345715"/>
                    </a:ext>
                  </a:extLst>
                </a:gridCol>
                <a:gridCol w="3243155">
                  <a:extLst>
                    <a:ext uri="{9D8B030D-6E8A-4147-A177-3AD203B41FA5}">
                      <a16:colId xmlns:a16="http://schemas.microsoft.com/office/drawing/2014/main" val="3878150392"/>
                    </a:ext>
                  </a:extLst>
                </a:gridCol>
              </a:tblGrid>
              <a:tr h="317578">
                <a:tc>
                  <a:txBody>
                    <a:bodyPr/>
                    <a:lstStyle/>
                    <a:p>
                      <a:pPr algn="l" fontAlgn="b">
                        <a:buNone/>
                      </a:pPr>
                      <a:r>
                        <a:rPr lang="en-IN" sz="1600" b="0" i="0" u="none" strike="noStrike">
                          <a:solidFill>
                            <a:srgbClr val="FFFFFF"/>
                          </a:solidFill>
                          <a:effectLst/>
                          <a:latin typeface="Aptos Narrow" panose="020B0004020202020204" pitchFamily="34" charset="0"/>
                        </a:rPr>
                        <a:t>Suppliers</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solidFill>
                      <a:srgbClr val="196B24"/>
                    </a:solidFill>
                  </a:tcPr>
                </a:tc>
                <a:tc>
                  <a:txBody>
                    <a:bodyPr/>
                    <a:lstStyle/>
                    <a:p>
                      <a:pPr algn="l" fontAlgn="b">
                        <a:buNone/>
                      </a:pPr>
                      <a:r>
                        <a:rPr lang="en-IN" sz="1600" b="0" i="0" u="none" strike="noStrike">
                          <a:solidFill>
                            <a:srgbClr val="FFFFFF"/>
                          </a:solidFill>
                          <a:effectLst/>
                          <a:latin typeface="Aptos Narrow" panose="020B0004020202020204" pitchFamily="34" charset="0"/>
                        </a:rPr>
                        <a:t> </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solidFill>
                      <a:srgbClr val="196B24"/>
                    </a:solidFill>
                  </a:tcPr>
                </a:tc>
                <a:tc>
                  <a:txBody>
                    <a:bodyPr/>
                    <a:lstStyle/>
                    <a:p>
                      <a:pPr algn="l" fontAlgn="b">
                        <a:buNone/>
                      </a:pPr>
                      <a:r>
                        <a:rPr lang="en-US" sz="1600" b="0" i="0" u="sng" strike="noStrike" dirty="0">
                          <a:solidFill>
                            <a:srgbClr val="FFFFFF"/>
                          </a:solidFill>
                          <a:effectLst/>
                          <a:latin typeface="Aptos Narrow" panose="020B0004020202020204" pitchFamily="34" charset="0"/>
                        </a:rPr>
                        <a:t> </a:t>
                      </a:r>
                      <a:endParaRPr lang="en-IN" sz="2700" b="0" i="0" u="none" strike="noStrike" dirty="0">
                        <a:effectLst/>
                        <a:latin typeface="Arial" panose="020B0604020202020204" pitchFamily="34" charset="0"/>
                      </a:endParaRPr>
                    </a:p>
                  </a:txBody>
                  <a:tcPr marL="14152" marR="14152" marT="14152" marB="0" anchor="b">
                    <a:lnL>
                      <a:noFill/>
                    </a:lnL>
                    <a:lnR>
                      <a:noFill/>
                    </a:lnR>
                    <a:lnT>
                      <a:noFill/>
                    </a:lnT>
                    <a:lnB>
                      <a:noFill/>
                    </a:lnB>
                    <a:solidFill>
                      <a:srgbClr val="196B24"/>
                    </a:solidFill>
                  </a:tcPr>
                </a:tc>
                <a:extLst>
                  <a:ext uri="{0D108BD9-81ED-4DB2-BD59-A6C34878D82A}">
                    <a16:rowId xmlns:a16="http://schemas.microsoft.com/office/drawing/2014/main" val="2847654016"/>
                  </a:ext>
                </a:extLst>
              </a:tr>
              <a:tr h="557602">
                <a:tc>
                  <a:txBody>
                    <a:bodyPr/>
                    <a:lstStyle/>
                    <a:p>
                      <a:pPr algn="l" fontAlgn="b">
                        <a:buNone/>
                      </a:pPr>
                      <a:endParaRPr lang="en-US"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endParaRPr lang="en-US"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endParaRPr lang="en-US"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2145741840"/>
                  </a:ext>
                </a:extLst>
              </a:tr>
              <a:tr h="317578">
                <a:tc>
                  <a:txBody>
                    <a:bodyPr/>
                    <a:lstStyle/>
                    <a:p>
                      <a:pPr algn="l" fontAlgn="b">
                        <a:buNone/>
                      </a:pPr>
                      <a:r>
                        <a:rPr lang="en-IN" sz="1600" b="0" i="0" u="none" strike="noStrike">
                          <a:solidFill>
                            <a:srgbClr val="006100"/>
                          </a:solidFill>
                          <a:effectLst/>
                          <a:latin typeface="Aptos Narrow" panose="020B0004020202020204" pitchFamily="34" charset="0"/>
                        </a:rPr>
                        <a:t>Columns</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solidFill>
                      <a:srgbClr val="C6EFCE"/>
                    </a:solidFill>
                  </a:tcPr>
                </a:tc>
                <a:tc>
                  <a:txBody>
                    <a:bodyPr/>
                    <a:lstStyle/>
                    <a:p>
                      <a:pPr algn="l" fontAlgn="b">
                        <a:buNone/>
                      </a:pPr>
                      <a:r>
                        <a:rPr lang="en-IN" sz="1600" b="0" i="0" u="none" strike="noStrike">
                          <a:solidFill>
                            <a:srgbClr val="006100"/>
                          </a:solidFill>
                          <a:effectLst/>
                          <a:latin typeface="Aptos Narrow" panose="020B0004020202020204" pitchFamily="34" charset="0"/>
                        </a:rPr>
                        <a:t>Data Type</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solidFill>
                      <a:srgbClr val="C6EFCE"/>
                    </a:solidFill>
                  </a:tcPr>
                </a:tc>
                <a:tc>
                  <a:txBody>
                    <a:bodyPr/>
                    <a:lstStyle/>
                    <a:p>
                      <a:pPr algn="l" fontAlgn="b">
                        <a:buNone/>
                      </a:pPr>
                      <a:r>
                        <a:rPr lang="en-IN" sz="1600" b="0" i="0" u="none" strike="noStrike">
                          <a:solidFill>
                            <a:srgbClr val="006100"/>
                          </a:solidFill>
                          <a:effectLst/>
                          <a:latin typeface="Aptos Narrow" panose="020B0004020202020204" pitchFamily="34" charset="0"/>
                        </a:rPr>
                        <a:t>Description</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solidFill>
                      <a:srgbClr val="C6EFCE"/>
                    </a:solidFill>
                  </a:tcPr>
                </a:tc>
                <a:extLst>
                  <a:ext uri="{0D108BD9-81ED-4DB2-BD59-A6C34878D82A}">
                    <a16:rowId xmlns:a16="http://schemas.microsoft.com/office/drawing/2014/main" val="3689476221"/>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SupplierID</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Number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Unique identifier for suppliers table</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480896667"/>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CompanyName</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Name of the company</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476437724"/>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ContactName</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US" sz="1600" b="0" i="0" u="none" strike="noStrike">
                          <a:solidFill>
                            <a:srgbClr val="000000"/>
                          </a:solidFill>
                          <a:effectLst/>
                          <a:latin typeface="Aptos Narrow" panose="020B0004020202020204" pitchFamily="34" charset="0"/>
                        </a:rPr>
                        <a:t>Name of the contact person</a:t>
                      </a:r>
                      <a:endParaRPr lang="en-US"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1226230050"/>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ContactTitle</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US" sz="1600" b="0" i="0" u="none" strike="noStrike">
                          <a:solidFill>
                            <a:srgbClr val="000000"/>
                          </a:solidFill>
                          <a:effectLst/>
                          <a:latin typeface="Aptos Narrow" panose="020B0004020202020204" pitchFamily="34" charset="0"/>
                        </a:rPr>
                        <a:t>Position of the contact person</a:t>
                      </a:r>
                      <a:endParaRPr lang="en-US"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902134308"/>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Address</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Address of the supplier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4195914581"/>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City</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City of the supplier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71110947"/>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Region</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Region of the supplier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2674747"/>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PostalCode</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US" sz="1600" b="0" i="0" u="none" strike="noStrike">
                          <a:solidFill>
                            <a:srgbClr val="000000"/>
                          </a:solidFill>
                          <a:effectLst/>
                          <a:latin typeface="Aptos Narrow" panose="020B0004020202020204" pitchFamily="34" charset="0"/>
                        </a:rPr>
                        <a:t>Postal code of the supplier</a:t>
                      </a:r>
                      <a:endParaRPr lang="en-US"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3729744315"/>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Country</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Country of the supplier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304643969"/>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Phone</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Phone of the supplier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2817521390"/>
                  </a:ext>
                </a:extLst>
              </a:tr>
              <a:tr h="317578">
                <a:tc>
                  <a:txBody>
                    <a:bodyPr/>
                    <a:lstStyle/>
                    <a:p>
                      <a:pPr algn="l" fontAlgn="b">
                        <a:buNone/>
                      </a:pPr>
                      <a:r>
                        <a:rPr lang="en-IN" sz="1600" b="0" i="0" u="none" strike="noStrike">
                          <a:solidFill>
                            <a:srgbClr val="000000"/>
                          </a:solidFill>
                          <a:effectLst/>
                          <a:latin typeface="Aptos Narrow" panose="020B0004020202020204" pitchFamily="34" charset="0"/>
                        </a:rPr>
                        <a:t>Fax</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Text</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Fax of the supplier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2393792672"/>
                  </a:ext>
                </a:extLst>
              </a:tr>
              <a:tr h="566659">
                <a:tc>
                  <a:txBody>
                    <a:bodyPr/>
                    <a:lstStyle/>
                    <a:p>
                      <a:pPr algn="l" fontAlgn="b">
                        <a:buNone/>
                      </a:pPr>
                      <a:r>
                        <a:rPr lang="en-IN" sz="1600" b="0" i="0" u="none" strike="noStrike">
                          <a:solidFill>
                            <a:srgbClr val="000000"/>
                          </a:solidFill>
                          <a:effectLst/>
                          <a:latin typeface="Aptos Narrow" panose="020B0004020202020204" pitchFamily="34" charset="0"/>
                        </a:rPr>
                        <a:t>Products Supplied</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IN" sz="1600" b="0" i="0" u="none" strike="noStrike">
                          <a:solidFill>
                            <a:srgbClr val="000000"/>
                          </a:solidFill>
                          <a:effectLst/>
                          <a:latin typeface="Aptos Narrow" panose="020B0004020202020204" pitchFamily="34" charset="0"/>
                        </a:rPr>
                        <a:t>Number</a:t>
                      </a:r>
                      <a:endParaRPr lang="en-IN" sz="2700" b="0" i="0" u="none" strike="noStrike">
                        <a:effectLst/>
                        <a:latin typeface="Arial" panose="020B0604020202020204" pitchFamily="34" charset="0"/>
                      </a:endParaRPr>
                    </a:p>
                  </a:txBody>
                  <a:tcPr marL="14152" marR="14152" marT="14152" marB="0" anchor="b">
                    <a:lnL>
                      <a:noFill/>
                    </a:lnL>
                    <a:lnR>
                      <a:noFill/>
                    </a:lnR>
                    <a:lnT>
                      <a:noFill/>
                    </a:lnT>
                    <a:lnB>
                      <a:noFill/>
                    </a:lnB>
                    <a:noFill/>
                  </a:tcPr>
                </a:tc>
                <a:tc>
                  <a:txBody>
                    <a:bodyPr/>
                    <a:lstStyle/>
                    <a:p>
                      <a:pPr algn="l" fontAlgn="b">
                        <a:buNone/>
                      </a:pPr>
                      <a:r>
                        <a:rPr lang="en-US" sz="1600" b="0" i="0" u="none" strike="noStrike" dirty="0">
                          <a:solidFill>
                            <a:srgbClr val="000000"/>
                          </a:solidFill>
                          <a:effectLst/>
                          <a:latin typeface="Aptos Narrow" panose="020B0004020202020204" pitchFamily="34" charset="0"/>
                        </a:rPr>
                        <a:t>Custom column -&gt; Total number of products supplied by the supplier</a:t>
                      </a:r>
                      <a:endParaRPr lang="en-US" sz="2700" b="0" i="0" u="none" strike="noStrike" dirty="0">
                        <a:effectLst/>
                        <a:latin typeface="Arial" panose="020B0604020202020204" pitchFamily="34" charset="0"/>
                      </a:endParaRPr>
                    </a:p>
                  </a:txBody>
                  <a:tcPr marL="14152" marR="14152" marT="14152" marB="0" anchor="b">
                    <a:lnL>
                      <a:noFill/>
                    </a:lnL>
                    <a:lnR>
                      <a:noFill/>
                    </a:lnR>
                    <a:lnT>
                      <a:noFill/>
                    </a:lnT>
                    <a:lnB>
                      <a:noFill/>
                    </a:lnB>
                    <a:noFill/>
                  </a:tcPr>
                </a:tc>
                <a:extLst>
                  <a:ext uri="{0D108BD9-81ED-4DB2-BD59-A6C34878D82A}">
                    <a16:rowId xmlns:a16="http://schemas.microsoft.com/office/drawing/2014/main" val="656911012"/>
                  </a:ext>
                </a:extLst>
              </a:tr>
            </a:tbl>
          </a:graphicData>
        </a:graphic>
      </p:graphicFrame>
    </p:spTree>
    <p:extLst>
      <p:ext uri="{BB962C8B-B14F-4D97-AF65-F5344CB8AC3E}">
        <p14:creationId xmlns:p14="http://schemas.microsoft.com/office/powerpoint/2010/main" val="3572596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BB09647D-4684-E87D-0027-6C22D6B61CC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897A56-9190-3299-3263-BD2F0894B61D}"/>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dirty="0"/>
          </a:p>
        </p:txBody>
      </p:sp>
      <p:sp>
        <p:nvSpPr>
          <p:cNvPr id="15" name="Rectangle 14">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Content Placeholder 9">
            <a:extLst>
              <a:ext uri="{FF2B5EF4-FFF2-40B4-BE49-F238E27FC236}">
                <a16:creationId xmlns:a16="http://schemas.microsoft.com/office/drawing/2014/main" id="{FF6E160A-AFA9-6A7E-35DA-A0430B6E8CFC}"/>
              </a:ext>
            </a:extLst>
          </p:cNvPr>
          <p:cNvSpPr>
            <a:spLocks noGrp="1"/>
          </p:cNvSpPr>
          <p:nvPr>
            <p:ph idx="1"/>
          </p:nvPr>
        </p:nvSpPr>
        <p:spPr>
          <a:xfrm>
            <a:off x="649225" y="2133600"/>
            <a:ext cx="3650278" cy="3759253"/>
          </a:xfrm>
        </p:spPr>
        <p:txBody>
          <a:bodyPr>
            <a:normAutofit/>
          </a:bodyPr>
          <a:lstStyle/>
          <a:p>
            <a:r>
              <a:rPr lang="en-US" dirty="0"/>
              <a:t>This table stores information about the company's shipping companies.</a:t>
            </a:r>
          </a:p>
          <a:p>
            <a:r>
              <a:rPr lang="en-US" dirty="0"/>
              <a:t>It includes fields for shipper ID, company name, and phone.</a:t>
            </a:r>
          </a:p>
        </p:txBody>
      </p:sp>
      <p:sp>
        <p:nvSpPr>
          <p:cNvPr id="17"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4">
            <a:extLst>
              <a:ext uri="{FF2B5EF4-FFF2-40B4-BE49-F238E27FC236}">
                <a16:creationId xmlns:a16="http://schemas.microsoft.com/office/drawing/2014/main" id="{FF74449B-0ABF-4232-2349-8D1CB1FBB1E1}"/>
              </a:ext>
            </a:extLst>
          </p:cNvPr>
          <p:cNvGraphicFramePr>
            <a:graphicFrameLocks/>
          </p:cNvGraphicFramePr>
          <p:nvPr>
            <p:extLst>
              <p:ext uri="{D42A27DB-BD31-4B8C-83A1-F6EECF244321}">
                <p14:modId xmlns:p14="http://schemas.microsoft.com/office/powerpoint/2010/main" val="1721167799"/>
              </p:ext>
            </p:extLst>
          </p:nvPr>
        </p:nvGraphicFramePr>
        <p:xfrm>
          <a:off x="4619543" y="727330"/>
          <a:ext cx="6953578" cy="5078280"/>
        </p:xfrm>
        <a:graphic>
          <a:graphicData uri="http://schemas.openxmlformats.org/drawingml/2006/table">
            <a:tbl>
              <a:tblPr/>
              <a:tblGrid>
                <a:gridCol w="1995435">
                  <a:extLst>
                    <a:ext uri="{9D8B030D-6E8A-4147-A177-3AD203B41FA5}">
                      <a16:colId xmlns:a16="http://schemas.microsoft.com/office/drawing/2014/main" val="929744195"/>
                    </a:ext>
                  </a:extLst>
                </a:gridCol>
                <a:gridCol w="1269189">
                  <a:extLst>
                    <a:ext uri="{9D8B030D-6E8A-4147-A177-3AD203B41FA5}">
                      <a16:colId xmlns:a16="http://schemas.microsoft.com/office/drawing/2014/main" val="1196342161"/>
                    </a:ext>
                  </a:extLst>
                </a:gridCol>
                <a:gridCol w="3688954">
                  <a:extLst>
                    <a:ext uri="{9D8B030D-6E8A-4147-A177-3AD203B41FA5}">
                      <a16:colId xmlns:a16="http://schemas.microsoft.com/office/drawing/2014/main" val="2448354232"/>
                    </a:ext>
                  </a:extLst>
                </a:gridCol>
              </a:tblGrid>
              <a:tr h="426996">
                <a:tc>
                  <a:txBody>
                    <a:bodyPr/>
                    <a:lstStyle/>
                    <a:p>
                      <a:pPr algn="l" fontAlgn="b">
                        <a:buNone/>
                      </a:pPr>
                      <a:r>
                        <a:rPr lang="en-IN" sz="2200" b="0" i="0" u="none" strike="noStrike">
                          <a:solidFill>
                            <a:srgbClr val="FFFFFF"/>
                          </a:solidFill>
                          <a:effectLst/>
                          <a:latin typeface="Aptos Narrow" panose="020B0004020202020204" pitchFamily="34" charset="0"/>
                        </a:rPr>
                        <a:t>Shippers</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solidFill>
                      <a:srgbClr val="196B24"/>
                    </a:solidFill>
                  </a:tcPr>
                </a:tc>
                <a:tc>
                  <a:txBody>
                    <a:bodyPr/>
                    <a:lstStyle/>
                    <a:p>
                      <a:pPr algn="l" fontAlgn="b">
                        <a:buNone/>
                      </a:pPr>
                      <a:r>
                        <a:rPr lang="en-IN" sz="2200" b="0" i="0" u="none" strike="noStrike">
                          <a:solidFill>
                            <a:srgbClr val="FFFFFF"/>
                          </a:solidFill>
                          <a:effectLst/>
                          <a:latin typeface="Aptos Narrow" panose="020B0004020202020204" pitchFamily="34" charset="0"/>
                        </a:rPr>
                        <a:t> </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solidFill>
                      <a:srgbClr val="196B24"/>
                    </a:solidFill>
                  </a:tcPr>
                </a:tc>
                <a:tc>
                  <a:txBody>
                    <a:bodyPr/>
                    <a:lstStyle/>
                    <a:p>
                      <a:pPr algn="l" fontAlgn="b">
                        <a:buNone/>
                      </a:pPr>
                      <a:r>
                        <a:rPr lang="en-US" sz="2200" b="0" i="0" u="sng" strike="noStrike" dirty="0">
                          <a:solidFill>
                            <a:srgbClr val="FFFFFF"/>
                          </a:solidFill>
                          <a:effectLst/>
                          <a:latin typeface="Aptos Narrow" panose="020B0004020202020204" pitchFamily="34" charset="0"/>
                        </a:rPr>
                        <a:t> </a:t>
                      </a:r>
                      <a:endParaRPr lang="en-IN" sz="3600" b="0" i="0" u="none" strike="noStrike" dirty="0">
                        <a:effectLst/>
                        <a:latin typeface="Arial" panose="020B0604020202020204" pitchFamily="34" charset="0"/>
                      </a:endParaRPr>
                    </a:p>
                  </a:txBody>
                  <a:tcPr marL="19028" marR="19028" marT="19028" marB="0" anchor="b">
                    <a:lnL>
                      <a:noFill/>
                    </a:lnL>
                    <a:lnR>
                      <a:noFill/>
                    </a:lnR>
                    <a:lnT>
                      <a:noFill/>
                    </a:lnT>
                    <a:lnB>
                      <a:noFill/>
                    </a:lnB>
                    <a:solidFill>
                      <a:srgbClr val="196B24"/>
                    </a:solidFill>
                  </a:tcPr>
                </a:tc>
                <a:extLst>
                  <a:ext uri="{0D108BD9-81ED-4DB2-BD59-A6C34878D82A}">
                    <a16:rowId xmlns:a16="http://schemas.microsoft.com/office/drawing/2014/main" val="79307945"/>
                  </a:ext>
                </a:extLst>
              </a:tr>
              <a:tr h="749716">
                <a:tc>
                  <a:txBody>
                    <a:bodyPr/>
                    <a:lstStyle/>
                    <a:p>
                      <a:pPr algn="l" fontAlgn="b">
                        <a:buNone/>
                      </a:pPr>
                      <a:endParaRPr lang="en-US"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endParaRPr lang="en-US"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endParaRPr lang="en-US"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extLst>
                  <a:ext uri="{0D108BD9-81ED-4DB2-BD59-A6C34878D82A}">
                    <a16:rowId xmlns:a16="http://schemas.microsoft.com/office/drawing/2014/main" val="3864838254"/>
                  </a:ext>
                </a:extLst>
              </a:tr>
              <a:tr h="426996">
                <a:tc>
                  <a:txBody>
                    <a:bodyPr/>
                    <a:lstStyle/>
                    <a:p>
                      <a:pPr algn="l" fontAlgn="b">
                        <a:buNone/>
                      </a:pPr>
                      <a:r>
                        <a:rPr lang="en-IN" sz="2200" b="0" i="0" u="none" strike="noStrike">
                          <a:solidFill>
                            <a:srgbClr val="006100"/>
                          </a:solidFill>
                          <a:effectLst/>
                          <a:latin typeface="Aptos Narrow" panose="020B0004020202020204" pitchFamily="34" charset="0"/>
                        </a:rPr>
                        <a:t>Columns</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solidFill>
                      <a:srgbClr val="C6EFCE"/>
                    </a:solidFill>
                  </a:tcPr>
                </a:tc>
                <a:tc>
                  <a:txBody>
                    <a:bodyPr/>
                    <a:lstStyle/>
                    <a:p>
                      <a:pPr algn="l" fontAlgn="b">
                        <a:buNone/>
                      </a:pPr>
                      <a:r>
                        <a:rPr lang="en-IN" sz="2200" b="0" i="0" u="none" strike="noStrike">
                          <a:solidFill>
                            <a:srgbClr val="006100"/>
                          </a:solidFill>
                          <a:effectLst/>
                          <a:latin typeface="Aptos Narrow" panose="020B0004020202020204" pitchFamily="34" charset="0"/>
                        </a:rPr>
                        <a:t>Data Type</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solidFill>
                      <a:srgbClr val="C6EFCE"/>
                    </a:solidFill>
                  </a:tcPr>
                </a:tc>
                <a:tc>
                  <a:txBody>
                    <a:bodyPr/>
                    <a:lstStyle/>
                    <a:p>
                      <a:pPr algn="l" fontAlgn="b">
                        <a:buNone/>
                      </a:pPr>
                      <a:r>
                        <a:rPr lang="en-IN" sz="2200" b="0" i="0" u="none" strike="noStrike">
                          <a:solidFill>
                            <a:srgbClr val="006100"/>
                          </a:solidFill>
                          <a:effectLst/>
                          <a:latin typeface="Aptos Narrow" panose="020B0004020202020204" pitchFamily="34" charset="0"/>
                        </a:rPr>
                        <a:t>Description</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solidFill>
                      <a:srgbClr val="C6EFCE"/>
                    </a:solidFill>
                  </a:tcPr>
                </a:tc>
                <a:extLst>
                  <a:ext uri="{0D108BD9-81ED-4DB2-BD59-A6C34878D82A}">
                    <a16:rowId xmlns:a16="http://schemas.microsoft.com/office/drawing/2014/main" val="205044727"/>
                  </a:ext>
                </a:extLst>
              </a:tr>
              <a:tr h="761894">
                <a:tc>
                  <a:txBody>
                    <a:bodyPr/>
                    <a:lstStyle/>
                    <a:p>
                      <a:pPr algn="l" fontAlgn="b">
                        <a:buNone/>
                      </a:pPr>
                      <a:r>
                        <a:rPr lang="en-IN" sz="2200" b="0" i="0" u="none" strike="noStrike">
                          <a:solidFill>
                            <a:srgbClr val="000000"/>
                          </a:solidFill>
                          <a:effectLst/>
                          <a:latin typeface="Aptos Narrow" panose="020B0004020202020204" pitchFamily="34" charset="0"/>
                        </a:rPr>
                        <a:t>ShipperID</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IN" sz="2200" b="0" i="0" u="none" strike="noStrike">
                          <a:solidFill>
                            <a:srgbClr val="000000"/>
                          </a:solidFill>
                          <a:effectLst/>
                          <a:latin typeface="Aptos Narrow" panose="020B0004020202020204" pitchFamily="34" charset="0"/>
                        </a:rPr>
                        <a:t>Number</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US" sz="2200" b="0" i="0" u="none" strike="noStrike">
                          <a:solidFill>
                            <a:srgbClr val="000000"/>
                          </a:solidFill>
                          <a:effectLst/>
                          <a:latin typeface="Aptos Narrow" panose="020B0004020202020204" pitchFamily="34" charset="0"/>
                        </a:rPr>
                        <a:t>Unique identifier for shippers table</a:t>
                      </a:r>
                      <a:endParaRPr lang="en-US"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extLst>
                  <a:ext uri="{0D108BD9-81ED-4DB2-BD59-A6C34878D82A}">
                    <a16:rowId xmlns:a16="http://schemas.microsoft.com/office/drawing/2014/main" val="1128198166"/>
                  </a:ext>
                </a:extLst>
              </a:tr>
              <a:tr h="426996">
                <a:tc>
                  <a:txBody>
                    <a:bodyPr/>
                    <a:lstStyle/>
                    <a:p>
                      <a:pPr algn="l" fontAlgn="b">
                        <a:buNone/>
                      </a:pPr>
                      <a:r>
                        <a:rPr lang="en-IN" sz="2200" b="0" i="0" u="none" strike="noStrike">
                          <a:solidFill>
                            <a:srgbClr val="000000"/>
                          </a:solidFill>
                          <a:effectLst/>
                          <a:latin typeface="Aptos Narrow" panose="020B0004020202020204" pitchFamily="34" charset="0"/>
                        </a:rPr>
                        <a:t>CompanyName</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IN" sz="2200" b="0" i="0" u="none" strike="noStrike">
                          <a:solidFill>
                            <a:srgbClr val="000000"/>
                          </a:solidFill>
                          <a:effectLst/>
                          <a:latin typeface="Aptos Narrow" panose="020B0004020202020204" pitchFamily="34" charset="0"/>
                        </a:rPr>
                        <a:t>Text</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US" sz="2200" b="0" i="0" u="none" strike="noStrike">
                          <a:solidFill>
                            <a:srgbClr val="000000"/>
                          </a:solidFill>
                          <a:effectLst/>
                          <a:latin typeface="Aptos Narrow" panose="020B0004020202020204" pitchFamily="34" charset="0"/>
                        </a:rPr>
                        <a:t>Name of the shipping company</a:t>
                      </a:r>
                      <a:endParaRPr lang="en-US"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extLst>
                  <a:ext uri="{0D108BD9-81ED-4DB2-BD59-A6C34878D82A}">
                    <a16:rowId xmlns:a16="http://schemas.microsoft.com/office/drawing/2014/main" val="3751299085"/>
                  </a:ext>
                </a:extLst>
              </a:tr>
              <a:tr h="426996">
                <a:tc>
                  <a:txBody>
                    <a:bodyPr/>
                    <a:lstStyle/>
                    <a:p>
                      <a:pPr algn="l" fontAlgn="b">
                        <a:buNone/>
                      </a:pPr>
                      <a:r>
                        <a:rPr lang="en-IN" sz="2200" b="0" i="0" u="none" strike="noStrike">
                          <a:solidFill>
                            <a:srgbClr val="000000"/>
                          </a:solidFill>
                          <a:effectLst/>
                          <a:latin typeface="Aptos Narrow" panose="020B0004020202020204" pitchFamily="34" charset="0"/>
                        </a:rPr>
                        <a:t>Phone</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IN" sz="2200" b="0" i="0" u="none" strike="noStrike">
                          <a:solidFill>
                            <a:srgbClr val="000000"/>
                          </a:solidFill>
                          <a:effectLst/>
                          <a:latin typeface="Aptos Narrow" panose="020B0004020202020204" pitchFamily="34" charset="0"/>
                        </a:rPr>
                        <a:t>Text</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IN" sz="2200" b="0" i="0" u="none" strike="noStrike">
                          <a:solidFill>
                            <a:srgbClr val="000000"/>
                          </a:solidFill>
                          <a:effectLst/>
                          <a:latin typeface="Aptos Narrow" panose="020B0004020202020204" pitchFamily="34" charset="0"/>
                        </a:rPr>
                        <a:t>Phone of the shipper</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extLst>
                  <a:ext uri="{0D108BD9-81ED-4DB2-BD59-A6C34878D82A}">
                    <a16:rowId xmlns:a16="http://schemas.microsoft.com/office/drawing/2014/main" val="103730898"/>
                  </a:ext>
                </a:extLst>
              </a:tr>
              <a:tr h="1096792">
                <a:tc>
                  <a:txBody>
                    <a:bodyPr/>
                    <a:lstStyle/>
                    <a:p>
                      <a:pPr algn="l" fontAlgn="b">
                        <a:buNone/>
                      </a:pPr>
                      <a:r>
                        <a:rPr lang="en-IN" sz="2200" b="0" i="0" u="none" strike="noStrike">
                          <a:solidFill>
                            <a:srgbClr val="000000"/>
                          </a:solidFill>
                          <a:effectLst/>
                          <a:latin typeface="Aptos Narrow" panose="020B0004020202020204" pitchFamily="34" charset="0"/>
                        </a:rPr>
                        <a:t>Orders Shipped</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IN" sz="2200" b="0" i="0" u="none" strike="noStrike">
                          <a:solidFill>
                            <a:srgbClr val="000000"/>
                          </a:solidFill>
                          <a:effectLst/>
                          <a:latin typeface="Aptos Narrow" panose="020B0004020202020204" pitchFamily="34" charset="0"/>
                        </a:rPr>
                        <a:t>Number</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US" sz="2200" b="0" i="0" u="none" strike="noStrike">
                          <a:solidFill>
                            <a:srgbClr val="000000"/>
                          </a:solidFill>
                          <a:effectLst/>
                          <a:latin typeface="Aptos Narrow" panose="020B0004020202020204" pitchFamily="34" charset="0"/>
                        </a:rPr>
                        <a:t>Custom Column -&gt; Total number of products shipped by the shipper</a:t>
                      </a:r>
                      <a:endParaRPr lang="en-US"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extLst>
                  <a:ext uri="{0D108BD9-81ED-4DB2-BD59-A6C34878D82A}">
                    <a16:rowId xmlns:a16="http://schemas.microsoft.com/office/drawing/2014/main" val="1373885481"/>
                  </a:ext>
                </a:extLst>
              </a:tr>
              <a:tr h="761894">
                <a:tc>
                  <a:txBody>
                    <a:bodyPr/>
                    <a:lstStyle/>
                    <a:p>
                      <a:pPr algn="l" fontAlgn="b">
                        <a:buNone/>
                      </a:pPr>
                      <a:r>
                        <a:rPr lang="en-IN" sz="2200" b="0" i="0" u="none" strike="noStrike">
                          <a:solidFill>
                            <a:srgbClr val="000000"/>
                          </a:solidFill>
                          <a:effectLst/>
                          <a:latin typeface="Aptos Narrow" panose="020B0004020202020204" pitchFamily="34" charset="0"/>
                        </a:rPr>
                        <a:t>Total Freight</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IN" sz="2200" b="0" i="0" u="none" strike="noStrike">
                          <a:solidFill>
                            <a:srgbClr val="000000"/>
                          </a:solidFill>
                          <a:effectLst/>
                          <a:latin typeface="Aptos Narrow" panose="020B0004020202020204" pitchFamily="34" charset="0"/>
                        </a:rPr>
                        <a:t>Currency</a:t>
                      </a:r>
                      <a:endParaRPr lang="en-IN" sz="3600" b="0" i="0" u="none" strike="noStrike">
                        <a:effectLst/>
                        <a:latin typeface="Arial" panose="020B0604020202020204" pitchFamily="34" charset="0"/>
                      </a:endParaRPr>
                    </a:p>
                  </a:txBody>
                  <a:tcPr marL="19028" marR="19028" marT="19028" marB="0" anchor="b">
                    <a:lnL>
                      <a:noFill/>
                    </a:lnL>
                    <a:lnR>
                      <a:noFill/>
                    </a:lnR>
                    <a:lnT>
                      <a:noFill/>
                    </a:lnT>
                    <a:lnB>
                      <a:noFill/>
                    </a:lnB>
                    <a:noFill/>
                  </a:tcPr>
                </a:tc>
                <a:tc>
                  <a:txBody>
                    <a:bodyPr/>
                    <a:lstStyle/>
                    <a:p>
                      <a:pPr algn="l" fontAlgn="b">
                        <a:buNone/>
                      </a:pPr>
                      <a:r>
                        <a:rPr lang="en-US" sz="2200" b="0" i="0" u="none" strike="noStrike" dirty="0">
                          <a:solidFill>
                            <a:srgbClr val="000000"/>
                          </a:solidFill>
                          <a:effectLst/>
                          <a:latin typeface="Aptos Narrow" panose="020B0004020202020204" pitchFamily="34" charset="0"/>
                        </a:rPr>
                        <a:t>Custom Column -&gt; Total freight charged by the shipper</a:t>
                      </a:r>
                      <a:endParaRPr lang="en-US" sz="3600" b="0" i="0" u="none" strike="noStrike" dirty="0">
                        <a:effectLst/>
                        <a:latin typeface="Arial" panose="020B0604020202020204" pitchFamily="34" charset="0"/>
                      </a:endParaRPr>
                    </a:p>
                  </a:txBody>
                  <a:tcPr marL="19028" marR="19028" marT="19028" marB="0" anchor="b">
                    <a:lnL>
                      <a:noFill/>
                    </a:lnL>
                    <a:lnR>
                      <a:noFill/>
                    </a:lnR>
                    <a:lnT>
                      <a:noFill/>
                    </a:lnT>
                    <a:lnB>
                      <a:noFill/>
                    </a:lnB>
                    <a:noFill/>
                  </a:tcPr>
                </a:tc>
                <a:extLst>
                  <a:ext uri="{0D108BD9-81ED-4DB2-BD59-A6C34878D82A}">
                    <a16:rowId xmlns:a16="http://schemas.microsoft.com/office/drawing/2014/main" val="2206676546"/>
                  </a:ext>
                </a:extLst>
              </a:tr>
            </a:tbl>
          </a:graphicData>
        </a:graphic>
      </p:graphicFrame>
    </p:spTree>
    <p:extLst>
      <p:ext uri="{BB962C8B-B14F-4D97-AF65-F5344CB8AC3E}">
        <p14:creationId xmlns:p14="http://schemas.microsoft.com/office/powerpoint/2010/main" val="28246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53B6E203-DE02-6E9B-A90C-F5BE87FD931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1DAE0-2AF4-7532-4BBD-FDDB553252EE}"/>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dirty="0"/>
          </a:p>
        </p:txBody>
      </p:sp>
      <p:sp>
        <p:nvSpPr>
          <p:cNvPr id="15" name="Rectangle 14">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Content Placeholder 9">
            <a:extLst>
              <a:ext uri="{FF2B5EF4-FFF2-40B4-BE49-F238E27FC236}">
                <a16:creationId xmlns:a16="http://schemas.microsoft.com/office/drawing/2014/main" id="{84DFF00E-EC0C-F1AB-70FF-DD18C2294C8A}"/>
              </a:ext>
            </a:extLst>
          </p:cNvPr>
          <p:cNvSpPr>
            <a:spLocks noGrp="1"/>
          </p:cNvSpPr>
          <p:nvPr>
            <p:ph idx="1"/>
          </p:nvPr>
        </p:nvSpPr>
        <p:spPr>
          <a:xfrm>
            <a:off x="649225" y="2133600"/>
            <a:ext cx="3650278" cy="3759253"/>
          </a:xfrm>
        </p:spPr>
        <p:txBody>
          <a:bodyPr>
            <a:normAutofit/>
          </a:bodyPr>
          <a:lstStyle/>
          <a:p>
            <a:r>
              <a:rPr lang="en-US" dirty="0"/>
              <a:t>This table stores information about the company's products.</a:t>
            </a:r>
          </a:p>
          <a:p>
            <a:r>
              <a:rPr lang="en-US" dirty="0"/>
              <a:t>It includes fields for product ID, product name, supplier ID, category ID, quantity per unit, unit price, units in stock, units on order, reorder level, and whether the product is discontinued.</a:t>
            </a:r>
          </a:p>
        </p:txBody>
      </p:sp>
      <p:sp>
        <p:nvSpPr>
          <p:cNvPr id="17"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4">
            <a:extLst>
              <a:ext uri="{FF2B5EF4-FFF2-40B4-BE49-F238E27FC236}">
                <a16:creationId xmlns:a16="http://schemas.microsoft.com/office/drawing/2014/main" id="{8A67A448-1BF5-8A02-74CB-E480B1F78D3E}"/>
              </a:ext>
            </a:extLst>
          </p:cNvPr>
          <p:cNvGraphicFramePr>
            <a:graphicFrameLocks/>
          </p:cNvGraphicFramePr>
          <p:nvPr>
            <p:extLst>
              <p:ext uri="{D42A27DB-BD31-4B8C-83A1-F6EECF244321}">
                <p14:modId xmlns:p14="http://schemas.microsoft.com/office/powerpoint/2010/main" val="2246068424"/>
              </p:ext>
            </p:extLst>
          </p:nvPr>
        </p:nvGraphicFramePr>
        <p:xfrm>
          <a:off x="4619543" y="874579"/>
          <a:ext cx="6953579" cy="4861148"/>
        </p:xfrm>
        <a:graphic>
          <a:graphicData uri="http://schemas.openxmlformats.org/drawingml/2006/table">
            <a:tbl>
              <a:tblPr/>
              <a:tblGrid>
                <a:gridCol w="1273735">
                  <a:extLst>
                    <a:ext uri="{9D8B030D-6E8A-4147-A177-3AD203B41FA5}">
                      <a16:colId xmlns:a16="http://schemas.microsoft.com/office/drawing/2014/main" val="3392835321"/>
                    </a:ext>
                  </a:extLst>
                </a:gridCol>
                <a:gridCol w="699713">
                  <a:extLst>
                    <a:ext uri="{9D8B030D-6E8A-4147-A177-3AD203B41FA5}">
                      <a16:colId xmlns:a16="http://schemas.microsoft.com/office/drawing/2014/main" val="4285273144"/>
                    </a:ext>
                  </a:extLst>
                </a:gridCol>
                <a:gridCol w="4980131">
                  <a:extLst>
                    <a:ext uri="{9D8B030D-6E8A-4147-A177-3AD203B41FA5}">
                      <a16:colId xmlns:a16="http://schemas.microsoft.com/office/drawing/2014/main" val="744752035"/>
                    </a:ext>
                  </a:extLst>
                </a:gridCol>
              </a:tblGrid>
              <a:tr h="222087">
                <a:tc>
                  <a:txBody>
                    <a:bodyPr/>
                    <a:lstStyle/>
                    <a:p>
                      <a:pPr algn="l" fontAlgn="b">
                        <a:buNone/>
                      </a:pPr>
                      <a:r>
                        <a:rPr lang="en-IN" sz="1400" b="0" i="0" u="none" strike="noStrike" dirty="0">
                          <a:solidFill>
                            <a:srgbClr val="FFFFFF"/>
                          </a:solidFill>
                          <a:effectLst/>
                          <a:latin typeface="Aptos Narrow" panose="020B0004020202020204" pitchFamily="34" charset="0"/>
                        </a:rPr>
                        <a:t>Products</a:t>
                      </a:r>
                      <a:endParaRPr lang="en-IN" sz="2400" b="0" i="0" u="none" strike="noStrike" dirty="0">
                        <a:effectLst/>
                        <a:latin typeface="Arial" panose="020B0604020202020204" pitchFamily="34" charset="0"/>
                      </a:endParaRPr>
                    </a:p>
                  </a:txBody>
                  <a:tcPr marL="9897" marR="9897" marT="9897" marB="0" anchor="b">
                    <a:lnL>
                      <a:noFill/>
                    </a:lnL>
                    <a:lnR>
                      <a:noFill/>
                    </a:lnR>
                    <a:lnT>
                      <a:noFill/>
                    </a:lnT>
                    <a:lnB>
                      <a:noFill/>
                    </a:lnB>
                    <a:solidFill>
                      <a:srgbClr val="196B24"/>
                    </a:solidFill>
                  </a:tcPr>
                </a:tc>
                <a:tc>
                  <a:txBody>
                    <a:bodyPr/>
                    <a:lstStyle/>
                    <a:p>
                      <a:pPr algn="l" fontAlgn="b">
                        <a:buNone/>
                      </a:pPr>
                      <a:r>
                        <a:rPr lang="en-IN" sz="1100" b="0" i="0" u="none" strike="noStrike">
                          <a:solidFill>
                            <a:srgbClr val="FFFFFF"/>
                          </a:solidFill>
                          <a:effectLst/>
                          <a:latin typeface="Aptos Narrow" panose="020B0004020202020204" pitchFamily="34" charset="0"/>
                        </a:rPr>
                        <a:t> </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solidFill>
                      <a:srgbClr val="196B24"/>
                    </a:solidFill>
                  </a:tcPr>
                </a:tc>
                <a:tc>
                  <a:txBody>
                    <a:bodyPr/>
                    <a:lstStyle/>
                    <a:p>
                      <a:pPr algn="l" fontAlgn="b">
                        <a:buNone/>
                      </a:pPr>
                      <a:endParaRPr lang="en-IN" sz="1900" b="0" i="0" u="none" strike="noStrike" dirty="0">
                        <a:effectLst/>
                        <a:latin typeface="Arial" panose="020B0604020202020204" pitchFamily="34" charset="0"/>
                      </a:endParaRPr>
                    </a:p>
                  </a:txBody>
                  <a:tcPr marL="9897" marR="9897" marT="9897" marB="0" anchor="b">
                    <a:lnL>
                      <a:noFill/>
                    </a:lnL>
                    <a:lnR>
                      <a:noFill/>
                    </a:lnR>
                    <a:lnT>
                      <a:noFill/>
                    </a:lnT>
                    <a:lnB>
                      <a:noFill/>
                    </a:lnB>
                    <a:solidFill>
                      <a:srgbClr val="196B24"/>
                    </a:solidFill>
                  </a:tcPr>
                </a:tc>
                <a:extLst>
                  <a:ext uri="{0D108BD9-81ED-4DB2-BD59-A6C34878D82A}">
                    <a16:rowId xmlns:a16="http://schemas.microsoft.com/office/drawing/2014/main" val="1494395967"/>
                  </a:ext>
                </a:extLst>
              </a:tr>
              <a:tr h="389939">
                <a:tc>
                  <a:txBody>
                    <a:bodyPr/>
                    <a:lstStyle/>
                    <a:p>
                      <a:pPr algn="l" fontAlgn="b">
                        <a:buNone/>
                      </a:pP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3398199287"/>
                  </a:ext>
                </a:extLst>
              </a:tr>
              <a:tr h="222087">
                <a:tc>
                  <a:txBody>
                    <a:bodyPr/>
                    <a:lstStyle/>
                    <a:p>
                      <a:pPr algn="l" fontAlgn="b">
                        <a:buNone/>
                      </a:pPr>
                      <a:r>
                        <a:rPr lang="en-IN" sz="1100" b="0" i="0" u="none" strike="noStrike">
                          <a:solidFill>
                            <a:srgbClr val="006100"/>
                          </a:solidFill>
                          <a:effectLst/>
                          <a:latin typeface="Aptos Narrow" panose="020B0004020202020204" pitchFamily="34" charset="0"/>
                        </a:rPr>
                        <a:t>Columns</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solidFill>
                      <a:srgbClr val="C6EFCE"/>
                    </a:solidFill>
                  </a:tcPr>
                </a:tc>
                <a:tc>
                  <a:txBody>
                    <a:bodyPr/>
                    <a:lstStyle/>
                    <a:p>
                      <a:pPr algn="l" fontAlgn="b">
                        <a:buNone/>
                      </a:pPr>
                      <a:r>
                        <a:rPr lang="en-IN" sz="1100" b="0" i="0" u="none" strike="noStrike">
                          <a:solidFill>
                            <a:srgbClr val="006100"/>
                          </a:solidFill>
                          <a:effectLst/>
                          <a:latin typeface="Aptos Narrow" panose="020B0004020202020204" pitchFamily="34" charset="0"/>
                        </a:rPr>
                        <a:t>Data Type</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solidFill>
                      <a:srgbClr val="C6EFCE"/>
                    </a:solidFill>
                  </a:tcPr>
                </a:tc>
                <a:tc>
                  <a:txBody>
                    <a:bodyPr/>
                    <a:lstStyle/>
                    <a:p>
                      <a:pPr algn="l" fontAlgn="b">
                        <a:buNone/>
                      </a:pPr>
                      <a:r>
                        <a:rPr lang="en-IN" sz="1100" b="0" i="0" u="none" strike="noStrike">
                          <a:solidFill>
                            <a:srgbClr val="006100"/>
                          </a:solidFill>
                          <a:effectLst/>
                          <a:latin typeface="Aptos Narrow" panose="020B0004020202020204" pitchFamily="34" charset="0"/>
                        </a:rPr>
                        <a:t>Description</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solidFill>
                      <a:srgbClr val="C6EFCE"/>
                    </a:solidFill>
                  </a:tcPr>
                </a:tc>
                <a:extLst>
                  <a:ext uri="{0D108BD9-81ED-4DB2-BD59-A6C34878D82A}">
                    <a16:rowId xmlns:a16="http://schemas.microsoft.com/office/drawing/2014/main" val="1828985299"/>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ProductID</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Unique identifier for Products table</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1075859434"/>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ProductName</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Name of the product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1081911943"/>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SupplierID</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Reference to the SupplierID in Suppliers Table</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2007998516"/>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CategoryID</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Reference to the CategoryID in Categories Table</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2722151479"/>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QuantityPerUnit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Quantity in the single unit</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2088272489"/>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UnitPrice</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Marked Price per unit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2414186788"/>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UnitsInStock</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Number of units in stock</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2309055009"/>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UnitsOnOrder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Number of units ordered in total</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971556130"/>
                  </a:ext>
                </a:extLst>
              </a:tr>
              <a:tr h="396273">
                <a:tc>
                  <a:txBody>
                    <a:bodyPr/>
                    <a:lstStyle/>
                    <a:p>
                      <a:pPr algn="l" fontAlgn="b">
                        <a:buNone/>
                      </a:pPr>
                      <a:r>
                        <a:rPr lang="en-IN" sz="1100" b="0" i="0" u="none" strike="noStrike">
                          <a:solidFill>
                            <a:srgbClr val="000000"/>
                          </a:solidFill>
                          <a:effectLst/>
                          <a:latin typeface="Aptos Narrow" panose="020B0004020202020204" pitchFamily="34" charset="0"/>
                        </a:rPr>
                        <a:t>ReorderLevel</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Inventory quantity that triggers a new order to suppliers - (Average Daily Usage × Lead Time) + Safety Stock</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153819486"/>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Discontinued</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0/1 - Whether the product is discontinued or not</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2473943209"/>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Total Orders</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Total orders of the products placed</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164117392"/>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Total Quantity Sold</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Total quantity of the products sold</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1018862461"/>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Total Cost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Currency</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Total cost of the product</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2159582510"/>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Total Sales</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Currency</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Total sales of the product</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1677995301"/>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Gross Profit per unit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Currency</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(Revenue - Sales) for each unit</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4093849643"/>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Total Gross Profit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Currency</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Total gross profit for each product</a:t>
                      </a:r>
                      <a:endParaRPr lang="en-US" sz="1900" b="0" i="0" u="none" strike="noStrike">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1888051097"/>
                  </a:ext>
                </a:extLst>
              </a:tr>
              <a:tr h="222087">
                <a:tc>
                  <a:txBody>
                    <a:bodyPr/>
                    <a:lstStyle/>
                    <a:p>
                      <a:pPr algn="l" fontAlgn="b">
                        <a:buNone/>
                      </a:pPr>
                      <a:r>
                        <a:rPr lang="en-IN" sz="1100" b="0" i="0" u="none" strike="noStrike">
                          <a:solidFill>
                            <a:srgbClr val="000000"/>
                          </a:solidFill>
                          <a:effectLst/>
                          <a:latin typeface="Aptos Narrow" panose="020B0004020202020204" pitchFamily="34" charset="0"/>
                        </a:rPr>
                        <a:t>Product Status</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900" b="0" i="0" u="none" strike="noStrike">
                        <a:effectLst/>
                        <a:latin typeface="Arial" panose="020B0604020202020204" pitchFamily="34" charset="0"/>
                      </a:endParaRPr>
                    </a:p>
                  </a:txBody>
                  <a:tcPr marL="9897" marR="9897" marT="9897" marB="0" anchor="b">
                    <a:lnL>
                      <a:noFill/>
                    </a:lnL>
                    <a:lnR>
                      <a:noFill/>
                    </a:lnR>
                    <a:lnT>
                      <a:noFill/>
                    </a:lnT>
                    <a:lnB>
                      <a:noFill/>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Custom Column -&gt; Whether the product is ongoing or discontinued</a:t>
                      </a:r>
                      <a:endParaRPr lang="en-US" sz="1900" b="0" i="0" u="none" strike="noStrike" dirty="0">
                        <a:effectLst/>
                        <a:latin typeface="Arial" panose="020B0604020202020204" pitchFamily="34" charset="0"/>
                      </a:endParaRPr>
                    </a:p>
                  </a:txBody>
                  <a:tcPr marL="9897" marR="9897" marT="9897" marB="0" anchor="b">
                    <a:lnL>
                      <a:noFill/>
                    </a:lnL>
                    <a:lnR>
                      <a:noFill/>
                    </a:lnR>
                    <a:lnT>
                      <a:noFill/>
                    </a:lnT>
                    <a:lnB>
                      <a:noFill/>
                    </a:lnB>
                    <a:noFill/>
                  </a:tcPr>
                </a:tc>
                <a:extLst>
                  <a:ext uri="{0D108BD9-81ED-4DB2-BD59-A6C34878D82A}">
                    <a16:rowId xmlns:a16="http://schemas.microsoft.com/office/drawing/2014/main" val="3642899929"/>
                  </a:ext>
                </a:extLst>
              </a:tr>
            </a:tbl>
          </a:graphicData>
        </a:graphic>
      </p:graphicFrame>
      <p:sp>
        <p:nvSpPr>
          <p:cNvPr id="6" name="Content Placeholder 9">
            <a:extLst>
              <a:ext uri="{FF2B5EF4-FFF2-40B4-BE49-F238E27FC236}">
                <a16:creationId xmlns:a16="http://schemas.microsoft.com/office/drawing/2014/main" id="{DCA20182-EAC7-02B4-77C9-5AACBF141BE6}"/>
              </a:ext>
            </a:extLst>
          </p:cNvPr>
          <p:cNvSpPr txBox="1">
            <a:spLocks/>
          </p:cNvSpPr>
          <p:nvPr/>
        </p:nvSpPr>
        <p:spPr>
          <a:xfrm>
            <a:off x="1038035" y="5886956"/>
            <a:ext cx="8132194" cy="72130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t>Note: </a:t>
            </a:r>
            <a:r>
              <a:rPr lang="en-US" dirty="0" err="1"/>
              <a:t>UnitPrice</a:t>
            </a:r>
            <a:r>
              <a:rPr lang="en-US" dirty="0"/>
              <a:t> Column is the Marked Price column.</a:t>
            </a:r>
            <a:endParaRPr lang="en-US" b="1" dirty="0"/>
          </a:p>
        </p:txBody>
      </p:sp>
    </p:spTree>
    <p:extLst>
      <p:ext uri="{BB962C8B-B14F-4D97-AF65-F5344CB8AC3E}">
        <p14:creationId xmlns:p14="http://schemas.microsoft.com/office/powerpoint/2010/main" val="417798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3AEC80-B3B2-BCE7-A69B-E8A9AC4B2CDD}"/>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dirty="0"/>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6B87F185-F2D9-78EB-4642-030051D3F75B}"/>
              </a:ext>
            </a:extLst>
          </p:cNvPr>
          <p:cNvSpPr>
            <a:spLocks noGrp="1"/>
          </p:cNvSpPr>
          <p:nvPr>
            <p:ph idx="1"/>
          </p:nvPr>
        </p:nvSpPr>
        <p:spPr>
          <a:xfrm>
            <a:off x="649225" y="2133600"/>
            <a:ext cx="3650278" cy="3759253"/>
          </a:xfrm>
        </p:spPr>
        <p:txBody>
          <a:bodyPr>
            <a:normAutofit/>
          </a:bodyPr>
          <a:lstStyle/>
          <a:p>
            <a:r>
              <a:rPr lang="en-US" dirty="0"/>
              <a:t>This table stores information about the company's orders.</a:t>
            </a:r>
          </a:p>
          <a:p>
            <a:r>
              <a:rPr lang="en-US" dirty="0"/>
              <a:t>It includes fields for order ID, customer ID, employee ID, order date, required date, shipped date, ship via, freight, ship name, ship address, ship city, ship region, ship postal code, and ship country.</a:t>
            </a:r>
          </a:p>
        </p:txBody>
      </p:sp>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3">
            <a:extLst>
              <a:ext uri="{FF2B5EF4-FFF2-40B4-BE49-F238E27FC236}">
                <a16:creationId xmlns:a16="http://schemas.microsoft.com/office/drawing/2014/main" id="{92E43CE9-709C-3D3F-3E1C-7F3272D88A14}"/>
              </a:ext>
            </a:extLst>
          </p:cNvPr>
          <p:cNvGraphicFramePr>
            <a:graphicFrameLocks/>
          </p:cNvGraphicFramePr>
          <p:nvPr>
            <p:extLst>
              <p:ext uri="{D42A27DB-BD31-4B8C-83A1-F6EECF244321}">
                <p14:modId xmlns:p14="http://schemas.microsoft.com/office/powerpoint/2010/main" val="1248341083"/>
              </p:ext>
            </p:extLst>
          </p:nvPr>
        </p:nvGraphicFramePr>
        <p:xfrm>
          <a:off x="4619543" y="684416"/>
          <a:ext cx="6953578" cy="5246428"/>
        </p:xfrm>
        <a:graphic>
          <a:graphicData uri="http://schemas.openxmlformats.org/drawingml/2006/table">
            <a:tbl>
              <a:tblPr/>
              <a:tblGrid>
                <a:gridCol w="1296379">
                  <a:extLst>
                    <a:ext uri="{9D8B030D-6E8A-4147-A177-3AD203B41FA5}">
                      <a16:colId xmlns:a16="http://schemas.microsoft.com/office/drawing/2014/main" val="1612254088"/>
                    </a:ext>
                  </a:extLst>
                </a:gridCol>
                <a:gridCol w="783885">
                  <a:extLst>
                    <a:ext uri="{9D8B030D-6E8A-4147-A177-3AD203B41FA5}">
                      <a16:colId xmlns:a16="http://schemas.microsoft.com/office/drawing/2014/main" val="1562850546"/>
                    </a:ext>
                  </a:extLst>
                </a:gridCol>
                <a:gridCol w="4873314">
                  <a:extLst>
                    <a:ext uri="{9D8B030D-6E8A-4147-A177-3AD203B41FA5}">
                      <a16:colId xmlns:a16="http://schemas.microsoft.com/office/drawing/2014/main" val="180477115"/>
                    </a:ext>
                  </a:extLst>
                </a:gridCol>
              </a:tblGrid>
              <a:tr h="248803">
                <a:tc>
                  <a:txBody>
                    <a:bodyPr/>
                    <a:lstStyle/>
                    <a:p>
                      <a:pPr algn="l" fontAlgn="b">
                        <a:buNone/>
                      </a:pPr>
                      <a:r>
                        <a:rPr lang="en-IN" sz="1600" b="0" i="0" u="none" strike="noStrike" dirty="0">
                          <a:solidFill>
                            <a:srgbClr val="FFFFFF"/>
                          </a:solidFill>
                          <a:effectLst/>
                          <a:latin typeface="Aptos Narrow" panose="020B0004020202020204" pitchFamily="34" charset="0"/>
                        </a:rPr>
                        <a:t>Orders</a:t>
                      </a:r>
                      <a:endParaRPr lang="en-IN" sz="2800" b="0" i="0" u="none" strike="noStrike" dirty="0">
                        <a:effectLst/>
                        <a:latin typeface="Arial" panose="020B0604020202020204" pitchFamily="34" charset="0"/>
                      </a:endParaRPr>
                    </a:p>
                  </a:txBody>
                  <a:tcPr marL="11087" marR="11087" marT="11087" marB="0" anchor="b">
                    <a:lnL>
                      <a:noFill/>
                    </a:lnL>
                    <a:lnR>
                      <a:noFill/>
                    </a:lnR>
                    <a:lnT>
                      <a:noFill/>
                    </a:lnT>
                    <a:lnB>
                      <a:noFill/>
                    </a:lnB>
                    <a:solidFill>
                      <a:srgbClr val="196B24"/>
                    </a:solidFill>
                  </a:tcPr>
                </a:tc>
                <a:tc>
                  <a:txBody>
                    <a:bodyPr/>
                    <a:lstStyle/>
                    <a:p>
                      <a:pPr algn="l" fontAlgn="b">
                        <a:buNone/>
                      </a:pPr>
                      <a:r>
                        <a:rPr lang="en-IN" sz="1300" b="0" i="0" u="none" strike="noStrike">
                          <a:solidFill>
                            <a:srgbClr val="FFFFFF"/>
                          </a:solidFill>
                          <a:effectLst/>
                          <a:latin typeface="Aptos Narrow" panose="020B0004020202020204" pitchFamily="34" charset="0"/>
                        </a:rPr>
                        <a:t> </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solidFill>
                      <a:srgbClr val="196B24"/>
                    </a:solidFill>
                  </a:tcPr>
                </a:tc>
                <a:tc>
                  <a:txBody>
                    <a:bodyPr/>
                    <a:lstStyle/>
                    <a:p>
                      <a:pPr algn="l" fontAlgn="b">
                        <a:buNone/>
                      </a:pPr>
                      <a:endParaRPr lang="en-IN" sz="2100" b="0" i="0" u="none" strike="noStrike" dirty="0">
                        <a:effectLst/>
                        <a:latin typeface="Arial" panose="020B0604020202020204" pitchFamily="34" charset="0"/>
                      </a:endParaRPr>
                    </a:p>
                  </a:txBody>
                  <a:tcPr marL="11087" marR="11087" marT="11087" marB="0" anchor="b">
                    <a:lnL>
                      <a:noFill/>
                    </a:lnL>
                    <a:lnR>
                      <a:noFill/>
                    </a:lnR>
                    <a:lnT>
                      <a:noFill/>
                    </a:lnT>
                    <a:lnB>
                      <a:noFill/>
                    </a:lnB>
                    <a:solidFill>
                      <a:srgbClr val="196B24"/>
                    </a:solidFill>
                  </a:tcPr>
                </a:tc>
                <a:extLst>
                  <a:ext uri="{0D108BD9-81ED-4DB2-BD59-A6C34878D82A}">
                    <a16:rowId xmlns:a16="http://schemas.microsoft.com/office/drawing/2014/main" val="1954110161"/>
                  </a:ext>
                </a:extLst>
              </a:tr>
              <a:tr h="436847">
                <a:tc>
                  <a:txBody>
                    <a:bodyPr/>
                    <a:lstStyle/>
                    <a:p>
                      <a:pPr algn="l" fontAlgn="b">
                        <a:buNone/>
                      </a:pP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2144431401"/>
                  </a:ext>
                </a:extLst>
              </a:tr>
              <a:tr h="248803">
                <a:tc>
                  <a:txBody>
                    <a:bodyPr/>
                    <a:lstStyle/>
                    <a:p>
                      <a:pPr algn="l" fontAlgn="b">
                        <a:buNone/>
                      </a:pPr>
                      <a:r>
                        <a:rPr lang="en-IN" sz="1300" b="0" i="0" u="none" strike="noStrike">
                          <a:solidFill>
                            <a:srgbClr val="006100"/>
                          </a:solidFill>
                          <a:effectLst/>
                          <a:latin typeface="Aptos Narrow" panose="020B0004020202020204" pitchFamily="34" charset="0"/>
                        </a:rPr>
                        <a:t>Columns</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solidFill>
                      <a:srgbClr val="C6EFCE"/>
                    </a:solidFill>
                  </a:tcPr>
                </a:tc>
                <a:tc>
                  <a:txBody>
                    <a:bodyPr/>
                    <a:lstStyle/>
                    <a:p>
                      <a:pPr algn="l" fontAlgn="b">
                        <a:buNone/>
                      </a:pPr>
                      <a:r>
                        <a:rPr lang="en-IN" sz="1300" b="0" i="0" u="none" strike="noStrike">
                          <a:solidFill>
                            <a:srgbClr val="006100"/>
                          </a:solidFill>
                          <a:effectLst/>
                          <a:latin typeface="Aptos Narrow" panose="020B0004020202020204" pitchFamily="34" charset="0"/>
                        </a:rPr>
                        <a:t>Data Type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solidFill>
                      <a:srgbClr val="C6EFCE"/>
                    </a:solidFill>
                  </a:tcPr>
                </a:tc>
                <a:tc>
                  <a:txBody>
                    <a:bodyPr/>
                    <a:lstStyle/>
                    <a:p>
                      <a:pPr algn="l" fontAlgn="b">
                        <a:buNone/>
                      </a:pPr>
                      <a:r>
                        <a:rPr lang="en-IN" sz="1300" b="0" i="0" u="none" strike="noStrike">
                          <a:solidFill>
                            <a:srgbClr val="006100"/>
                          </a:solidFill>
                          <a:effectLst/>
                          <a:latin typeface="Aptos Narrow" panose="020B0004020202020204" pitchFamily="34" charset="0"/>
                        </a:rPr>
                        <a:t>Description</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solidFill>
                      <a:srgbClr val="C6EFCE"/>
                    </a:solidFill>
                  </a:tcPr>
                </a:tc>
                <a:extLst>
                  <a:ext uri="{0D108BD9-81ED-4DB2-BD59-A6C34878D82A}">
                    <a16:rowId xmlns:a16="http://schemas.microsoft.com/office/drawing/2014/main" val="751303595"/>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OrderID</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Number</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Unique identifier for Orders table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830385838"/>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CustomerID</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Reference to the CustomerID in Customers Table</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2032777988"/>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EmployeeID</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Number</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Reference to the EmployeeID in Employees Table</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528582921"/>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OrderDate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Date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Date of the order</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2497976855"/>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RequiredDate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Date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Date till which the product is required</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1261677258"/>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ShippedDate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Date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Date of the product shipping</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273338524"/>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ShipVia</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Number</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Reference to the ShipperID in Shippers Table</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320247576"/>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Freight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Currency</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Freight charged for the product</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27691257"/>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ShipName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Name of the ship</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63773550"/>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ShipAddress</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Address of shipment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2113862737"/>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ShipCity</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City of shipment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385787651"/>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ShipRegion</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Region of shipment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638028215"/>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ShipPostalCode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Code of shipment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493409245"/>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ShipCountry</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Country of shipment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451194886"/>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Revenue</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Currency</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Custom Column -&gt; Marked_price * Quantity * (1-discount)</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3078581647"/>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Total Gross Profit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Currency</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Custom Column -&gt; [[Marked_price * (1-discount)] - Cost_price] * quantity</a:t>
                      </a:r>
                      <a:endParaRPr lang="en-US"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4284138266"/>
                  </a:ext>
                </a:extLst>
              </a:tr>
              <a:tr h="248803">
                <a:tc>
                  <a:txBody>
                    <a:bodyPr/>
                    <a:lstStyle/>
                    <a:p>
                      <a:pPr algn="l" fontAlgn="b">
                        <a:buNone/>
                      </a:pPr>
                      <a:r>
                        <a:rPr lang="en-IN" sz="1300" b="0" i="0" u="none" strike="noStrike">
                          <a:solidFill>
                            <a:srgbClr val="000000"/>
                          </a:solidFill>
                          <a:effectLst/>
                          <a:latin typeface="Aptos Narrow" panose="020B0004020202020204" pitchFamily="34" charset="0"/>
                        </a:rPr>
                        <a:t>Net Profit</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Currency</a:t>
                      </a:r>
                      <a:endParaRPr lang="en-IN" sz="2100" b="0" i="0" u="none" strike="noStrike">
                        <a:effectLst/>
                        <a:latin typeface="Arial" panose="020B0604020202020204" pitchFamily="34" charset="0"/>
                      </a:endParaRPr>
                    </a:p>
                  </a:txBody>
                  <a:tcPr marL="11087" marR="11087" marT="11087" marB="0" anchor="b">
                    <a:lnL>
                      <a:noFill/>
                    </a:lnL>
                    <a:lnR>
                      <a:noFill/>
                    </a:lnR>
                    <a:lnT>
                      <a:noFill/>
                    </a:lnT>
                    <a:lnB>
                      <a:noFill/>
                    </a:lnB>
                    <a:noFill/>
                  </a:tcPr>
                </a:tc>
                <a:tc>
                  <a:txBody>
                    <a:bodyPr/>
                    <a:lstStyle/>
                    <a:p>
                      <a:pPr algn="l" fontAlgn="b">
                        <a:buNone/>
                      </a:pPr>
                      <a:r>
                        <a:rPr lang="en-US" sz="1300" b="0" i="0" u="none" strike="noStrike" dirty="0">
                          <a:solidFill>
                            <a:srgbClr val="000000"/>
                          </a:solidFill>
                          <a:effectLst/>
                          <a:latin typeface="Aptos Narrow" panose="020B0004020202020204" pitchFamily="34" charset="0"/>
                        </a:rPr>
                        <a:t>Custom Column -&gt; Total Gross profit - </a:t>
                      </a:r>
                      <a:r>
                        <a:rPr lang="en-US" sz="1300" b="0" i="0" u="none" strike="noStrike" dirty="0" err="1">
                          <a:solidFill>
                            <a:srgbClr val="000000"/>
                          </a:solidFill>
                          <a:effectLst/>
                          <a:latin typeface="Aptos Narrow" panose="020B0004020202020204" pitchFamily="34" charset="0"/>
                        </a:rPr>
                        <a:t>Freight_charges</a:t>
                      </a:r>
                      <a:endParaRPr lang="en-US" sz="2100" b="0" i="0" u="none" strike="noStrike" dirty="0">
                        <a:effectLst/>
                        <a:latin typeface="Arial" panose="020B0604020202020204" pitchFamily="34" charset="0"/>
                      </a:endParaRPr>
                    </a:p>
                  </a:txBody>
                  <a:tcPr marL="11087" marR="11087" marT="11087" marB="0" anchor="b">
                    <a:lnL>
                      <a:noFill/>
                    </a:lnL>
                    <a:lnR>
                      <a:noFill/>
                    </a:lnR>
                    <a:lnT>
                      <a:noFill/>
                    </a:lnT>
                    <a:lnB>
                      <a:noFill/>
                    </a:lnB>
                    <a:noFill/>
                  </a:tcPr>
                </a:tc>
                <a:extLst>
                  <a:ext uri="{0D108BD9-81ED-4DB2-BD59-A6C34878D82A}">
                    <a16:rowId xmlns:a16="http://schemas.microsoft.com/office/drawing/2014/main" val="2833419504"/>
                  </a:ext>
                </a:extLst>
              </a:tr>
            </a:tbl>
          </a:graphicData>
        </a:graphic>
      </p:graphicFrame>
    </p:spTree>
    <p:extLst>
      <p:ext uri="{BB962C8B-B14F-4D97-AF65-F5344CB8AC3E}">
        <p14:creationId xmlns:p14="http://schemas.microsoft.com/office/powerpoint/2010/main" val="1628407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847B6E3A-75A6-AF59-0CE4-48BD169458B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C715AA-A234-8BFE-1C0F-2F6DF7408A89}"/>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dirty="0"/>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DDB22EF8-1A2C-7C76-778B-03303C9693DA}"/>
              </a:ext>
            </a:extLst>
          </p:cNvPr>
          <p:cNvSpPr>
            <a:spLocks noGrp="1"/>
          </p:cNvSpPr>
          <p:nvPr>
            <p:ph idx="1"/>
          </p:nvPr>
        </p:nvSpPr>
        <p:spPr>
          <a:xfrm>
            <a:off x="649225" y="2133600"/>
            <a:ext cx="3650278" cy="3759253"/>
          </a:xfrm>
        </p:spPr>
        <p:txBody>
          <a:bodyPr>
            <a:normAutofit/>
          </a:bodyPr>
          <a:lstStyle/>
          <a:p>
            <a:r>
              <a:rPr lang="en-US" dirty="0"/>
              <a:t>This table stores detailed information about the items within each order.</a:t>
            </a:r>
          </a:p>
          <a:p>
            <a:r>
              <a:rPr lang="en-US" dirty="0"/>
              <a:t>It includes fields for order ID, product ID, unit price, quantity, and discount.</a:t>
            </a:r>
          </a:p>
        </p:txBody>
      </p:sp>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3">
            <a:extLst>
              <a:ext uri="{FF2B5EF4-FFF2-40B4-BE49-F238E27FC236}">
                <a16:creationId xmlns:a16="http://schemas.microsoft.com/office/drawing/2014/main" id="{40028AF5-4F14-D00E-32A6-876C055BB9DC}"/>
              </a:ext>
            </a:extLst>
          </p:cNvPr>
          <p:cNvGraphicFramePr>
            <a:graphicFrameLocks/>
          </p:cNvGraphicFramePr>
          <p:nvPr>
            <p:extLst>
              <p:ext uri="{D42A27DB-BD31-4B8C-83A1-F6EECF244321}">
                <p14:modId xmlns:p14="http://schemas.microsoft.com/office/powerpoint/2010/main" val="1870318510"/>
              </p:ext>
            </p:extLst>
          </p:nvPr>
        </p:nvGraphicFramePr>
        <p:xfrm>
          <a:off x="4619543" y="664541"/>
          <a:ext cx="6953579" cy="5203856"/>
        </p:xfrm>
        <a:graphic>
          <a:graphicData uri="http://schemas.openxmlformats.org/drawingml/2006/table">
            <a:tbl>
              <a:tblPr/>
              <a:tblGrid>
                <a:gridCol w="2188239">
                  <a:extLst>
                    <a:ext uri="{9D8B030D-6E8A-4147-A177-3AD203B41FA5}">
                      <a16:colId xmlns:a16="http://schemas.microsoft.com/office/drawing/2014/main" val="2948649218"/>
                    </a:ext>
                  </a:extLst>
                </a:gridCol>
                <a:gridCol w="1197173">
                  <a:extLst>
                    <a:ext uri="{9D8B030D-6E8A-4147-A177-3AD203B41FA5}">
                      <a16:colId xmlns:a16="http://schemas.microsoft.com/office/drawing/2014/main" val="696458629"/>
                    </a:ext>
                  </a:extLst>
                </a:gridCol>
                <a:gridCol w="3568167">
                  <a:extLst>
                    <a:ext uri="{9D8B030D-6E8A-4147-A177-3AD203B41FA5}">
                      <a16:colId xmlns:a16="http://schemas.microsoft.com/office/drawing/2014/main" val="246503523"/>
                    </a:ext>
                  </a:extLst>
                </a:gridCol>
              </a:tblGrid>
              <a:tr h="264459">
                <a:tc>
                  <a:txBody>
                    <a:bodyPr/>
                    <a:lstStyle/>
                    <a:p>
                      <a:pPr algn="l" fontAlgn="b">
                        <a:buNone/>
                      </a:pPr>
                      <a:r>
                        <a:rPr lang="en-IN" sz="1400" b="0" i="0" u="none" strike="noStrike">
                          <a:solidFill>
                            <a:srgbClr val="FFFFFF"/>
                          </a:solidFill>
                          <a:effectLst/>
                          <a:latin typeface="Aptos Narrow" panose="020B0004020202020204" pitchFamily="34" charset="0"/>
                        </a:rPr>
                        <a:t>Order Details</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solidFill>
                      <a:srgbClr val="196B24"/>
                    </a:solidFill>
                  </a:tcPr>
                </a:tc>
                <a:tc>
                  <a:txBody>
                    <a:bodyPr/>
                    <a:lstStyle/>
                    <a:p>
                      <a:pPr algn="l" fontAlgn="b">
                        <a:buNone/>
                      </a:pPr>
                      <a:r>
                        <a:rPr lang="en-IN" sz="1400" b="0" i="0" u="none" strike="noStrike">
                          <a:solidFill>
                            <a:srgbClr val="FFFFFF"/>
                          </a:solidFill>
                          <a:effectLst/>
                          <a:latin typeface="Aptos Narrow" panose="020B0004020202020204" pitchFamily="34" charset="0"/>
                        </a:rPr>
                        <a:t> </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solidFill>
                      <a:srgbClr val="196B24"/>
                    </a:solidFill>
                  </a:tcPr>
                </a:tc>
                <a:tc>
                  <a:txBody>
                    <a:bodyPr/>
                    <a:lstStyle/>
                    <a:p>
                      <a:pPr algn="l" fontAlgn="b">
                        <a:buNone/>
                      </a:pPr>
                      <a:r>
                        <a:rPr lang="en-US" sz="1400" b="0" i="0" u="sng" strike="noStrike" dirty="0">
                          <a:solidFill>
                            <a:srgbClr val="FFFFFF"/>
                          </a:solidFill>
                          <a:effectLst/>
                          <a:latin typeface="Aptos Narrow" panose="020B0004020202020204" pitchFamily="34" charset="0"/>
                        </a:rPr>
                        <a:t> </a:t>
                      </a:r>
                      <a:endParaRPr lang="en-IN" sz="2200" b="0" i="0" u="none" strike="noStrike" dirty="0">
                        <a:effectLst/>
                        <a:latin typeface="Arial" panose="020B0604020202020204" pitchFamily="34" charset="0"/>
                      </a:endParaRPr>
                    </a:p>
                  </a:txBody>
                  <a:tcPr marL="11785" marR="11785" marT="11785" marB="0" anchor="b">
                    <a:lnL>
                      <a:noFill/>
                    </a:lnL>
                    <a:lnR>
                      <a:noFill/>
                    </a:lnR>
                    <a:lnT>
                      <a:noFill/>
                    </a:lnT>
                    <a:lnB>
                      <a:noFill/>
                    </a:lnB>
                    <a:solidFill>
                      <a:srgbClr val="196B24"/>
                    </a:solidFill>
                  </a:tcPr>
                </a:tc>
                <a:extLst>
                  <a:ext uri="{0D108BD9-81ED-4DB2-BD59-A6C34878D82A}">
                    <a16:rowId xmlns:a16="http://schemas.microsoft.com/office/drawing/2014/main" val="527489106"/>
                  </a:ext>
                </a:extLst>
              </a:tr>
              <a:tr h="464335">
                <a:tc>
                  <a:txBody>
                    <a:bodyPr/>
                    <a:lstStyle/>
                    <a:p>
                      <a:pPr algn="l" fontAlgn="b">
                        <a:buNone/>
                      </a:pP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2117455811"/>
                  </a:ext>
                </a:extLst>
              </a:tr>
              <a:tr h="264459">
                <a:tc>
                  <a:txBody>
                    <a:bodyPr/>
                    <a:lstStyle/>
                    <a:p>
                      <a:pPr algn="l" fontAlgn="b">
                        <a:buNone/>
                      </a:pPr>
                      <a:r>
                        <a:rPr lang="en-IN" sz="1400" b="0" i="0" u="none" strike="noStrike">
                          <a:solidFill>
                            <a:srgbClr val="006100"/>
                          </a:solidFill>
                          <a:effectLst/>
                          <a:latin typeface="Aptos Narrow" panose="020B0004020202020204" pitchFamily="34" charset="0"/>
                        </a:rPr>
                        <a:t>Columns</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solidFill>
                      <a:srgbClr val="C6EFCE"/>
                    </a:solidFill>
                  </a:tcPr>
                </a:tc>
                <a:tc>
                  <a:txBody>
                    <a:bodyPr/>
                    <a:lstStyle/>
                    <a:p>
                      <a:pPr algn="l" fontAlgn="b">
                        <a:buNone/>
                      </a:pPr>
                      <a:r>
                        <a:rPr lang="en-IN" sz="1400" b="0" i="0" u="none" strike="noStrike">
                          <a:solidFill>
                            <a:srgbClr val="006100"/>
                          </a:solidFill>
                          <a:effectLst/>
                          <a:latin typeface="Aptos Narrow" panose="020B0004020202020204" pitchFamily="34" charset="0"/>
                        </a:rPr>
                        <a:t>Data Type</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solidFill>
                      <a:srgbClr val="C6EFCE"/>
                    </a:solidFill>
                  </a:tcPr>
                </a:tc>
                <a:tc>
                  <a:txBody>
                    <a:bodyPr/>
                    <a:lstStyle/>
                    <a:p>
                      <a:pPr algn="l" fontAlgn="b">
                        <a:buNone/>
                      </a:pPr>
                      <a:r>
                        <a:rPr lang="en-IN" sz="1400" b="0" i="0" u="none" strike="noStrike">
                          <a:solidFill>
                            <a:srgbClr val="006100"/>
                          </a:solidFill>
                          <a:effectLst/>
                          <a:latin typeface="Aptos Narrow" panose="020B0004020202020204" pitchFamily="34" charset="0"/>
                        </a:rPr>
                        <a:t>Description</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solidFill>
                      <a:srgbClr val="C6EFCE"/>
                    </a:solidFill>
                  </a:tcPr>
                </a:tc>
                <a:extLst>
                  <a:ext uri="{0D108BD9-81ED-4DB2-BD59-A6C34878D82A}">
                    <a16:rowId xmlns:a16="http://schemas.microsoft.com/office/drawing/2014/main" val="3787485244"/>
                  </a:ext>
                </a:extLst>
              </a:tr>
              <a:tr h="264459">
                <a:tc>
                  <a:txBody>
                    <a:bodyPr/>
                    <a:lstStyle/>
                    <a:p>
                      <a:pPr algn="l" fontAlgn="b">
                        <a:buNone/>
                      </a:pPr>
                      <a:r>
                        <a:rPr lang="en-IN" sz="1400" b="0" i="0" u="none" strike="noStrike">
                          <a:solidFill>
                            <a:srgbClr val="000000"/>
                          </a:solidFill>
                          <a:effectLst/>
                          <a:latin typeface="Aptos Narrow" panose="020B0004020202020204" pitchFamily="34" charset="0"/>
                        </a:rPr>
                        <a:t>OrderID</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Number</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Reference to the OrderID in Orders Table</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1336887032"/>
                  </a:ext>
                </a:extLst>
              </a:tr>
              <a:tr h="264459">
                <a:tc>
                  <a:txBody>
                    <a:bodyPr/>
                    <a:lstStyle/>
                    <a:p>
                      <a:pPr algn="l" fontAlgn="b">
                        <a:buNone/>
                      </a:pPr>
                      <a:r>
                        <a:rPr lang="en-IN" sz="1400" b="0" i="0" u="none" strike="noStrike">
                          <a:solidFill>
                            <a:srgbClr val="000000"/>
                          </a:solidFill>
                          <a:effectLst/>
                          <a:latin typeface="Aptos Narrow" panose="020B0004020202020204" pitchFamily="34" charset="0"/>
                        </a:rPr>
                        <a:t>ProductID</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Number</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Reference to the ProductID in Products Table</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971109872"/>
                  </a:ext>
                </a:extLst>
              </a:tr>
              <a:tr h="264459">
                <a:tc>
                  <a:txBody>
                    <a:bodyPr/>
                    <a:lstStyle/>
                    <a:p>
                      <a:pPr algn="l" fontAlgn="b">
                        <a:buNone/>
                      </a:pPr>
                      <a:r>
                        <a:rPr lang="en-IN" sz="1400" b="0" i="0" u="none" strike="noStrike">
                          <a:solidFill>
                            <a:srgbClr val="000000"/>
                          </a:solidFill>
                          <a:effectLst/>
                          <a:latin typeface="Aptos Narrow" panose="020B0004020202020204" pitchFamily="34" charset="0"/>
                        </a:rPr>
                        <a:t>UnitPrice</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Currency</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Cost Price per Unit of the product</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559242872"/>
                  </a:ext>
                </a:extLst>
              </a:tr>
              <a:tr h="264459">
                <a:tc>
                  <a:txBody>
                    <a:bodyPr/>
                    <a:lstStyle/>
                    <a:p>
                      <a:pPr algn="l" fontAlgn="b">
                        <a:buNone/>
                      </a:pPr>
                      <a:r>
                        <a:rPr lang="en-IN" sz="1400" b="0" i="0" u="none" strike="noStrike">
                          <a:solidFill>
                            <a:srgbClr val="000000"/>
                          </a:solidFill>
                          <a:effectLst/>
                          <a:latin typeface="Aptos Narrow" panose="020B0004020202020204" pitchFamily="34" charset="0"/>
                        </a:rPr>
                        <a:t>Quantity</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Number</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Quantity of the product ordered</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3664165227"/>
                  </a:ext>
                </a:extLst>
              </a:tr>
              <a:tr h="264459">
                <a:tc>
                  <a:txBody>
                    <a:bodyPr/>
                    <a:lstStyle/>
                    <a:p>
                      <a:pPr algn="l" fontAlgn="b">
                        <a:buNone/>
                      </a:pPr>
                      <a:r>
                        <a:rPr lang="en-IN" sz="1400" b="0" i="0" u="none" strike="noStrike">
                          <a:solidFill>
                            <a:srgbClr val="000000"/>
                          </a:solidFill>
                          <a:effectLst/>
                          <a:latin typeface="Aptos Narrow" panose="020B0004020202020204" pitchFamily="34" charset="0"/>
                        </a:rPr>
                        <a:t>Discount</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Number</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Discount on the product amount</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914746638"/>
                  </a:ext>
                </a:extLst>
              </a:tr>
              <a:tr h="471878">
                <a:tc>
                  <a:txBody>
                    <a:bodyPr/>
                    <a:lstStyle/>
                    <a:p>
                      <a:pPr algn="l" fontAlgn="b">
                        <a:buNone/>
                      </a:pPr>
                      <a:r>
                        <a:rPr lang="en-IN" sz="1400" b="0" i="0" u="none" strike="noStrike">
                          <a:solidFill>
                            <a:srgbClr val="000000"/>
                          </a:solidFill>
                          <a:effectLst/>
                          <a:latin typeface="Aptos Narrow" panose="020B0004020202020204" pitchFamily="34" charset="0"/>
                        </a:rPr>
                        <a:t>Total Cost amount</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Currency</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Custom Column -&gt; Total cost amount of the product</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1278419719"/>
                  </a:ext>
                </a:extLst>
              </a:tr>
              <a:tr h="264459">
                <a:tc>
                  <a:txBody>
                    <a:bodyPr/>
                    <a:lstStyle/>
                    <a:p>
                      <a:pPr algn="l" fontAlgn="b">
                        <a:buNone/>
                      </a:pPr>
                      <a:r>
                        <a:rPr lang="en-IN" sz="1400" b="0" i="0" u="none" strike="noStrike">
                          <a:solidFill>
                            <a:srgbClr val="000000"/>
                          </a:solidFill>
                          <a:effectLst/>
                          <a:latin typeface="Aptos Narrow" panose="020B0004020202020204" pitchFamily="34" charset="0"/>
                        </a:rPr>
                        <a:t>Order Date</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Date</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Custom Column -&gt; Order date from orders table</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3871850512"/>
                  </a:ext>
                </a:extLst>
              </a:tr>
              <a:tr h="471878">
                <a:tc>
                  <a:txBody>
                    <a:bodyPr/>
                    <a:lstStyle/>
                    <a:p>
                      <a:pPr algn="l" fontAlgn="b">
                        <a:buNone/>
                      </a:pPr>
                      <a:r>
                        <a:rPr lang="en-IN" sz="1400" b="0" i="0" u="none" strike="noStrike">
                          <a:solidFill>
                            <a:srgbClr val="000000"/>
                          </a:solidFill>
                          <a:effectLst/>
                          <a:latin typeface="Aptos Narrow" panose="020B0004020202020204" pitchFamily="34" charset="0"/>
                        </a:rPr>
                        <a:t>UnitPrice (Marked Price)</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Currency</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Custom Column -&gt; Marked price from products table</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3183514010"/>
                  </a:ext>
                </a:extLst>
              </a:tr>
              <a:tr h="471878">
                <a:tc>
                  <a:txBody>
                    <a:bodyPr/>
                    <a:lstStyle/>
                    <a:p>
                      <a:pPr algn="l" fontAlgn="b">
                        <a:buNone/>
                      </a:pPr>
                      <a:r>
                        <a:rPr lang="en-IN" sz="1400" b="0" i="0" u="none" strike="noStrike">
                          <a:solidFill>
                            <a:srgbClr val="000000"/>
                          </a:solidFill>
                          <a:effectLst/>
                          <a:latin typeface="Aptos Narrow" panose="020B0004020202020204" pitchFamily="34" charset="0"/>
                        </a:rPr>
                        <a:t>Total revenue</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Currency</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Custom Column -&gt; Marked_price * Quantity * (1-discount)</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2228460601"/>
                  </a:ext>
                </a:extLst>
              </a:tr>
              <a:tr h="471878">
                <a:tc>
                  <a:txBody>
                    <a:bodyPr/>
                    <a:lstStyle/>
                    <a:p>
                      <a:pPr algn="l" fontAlgn="b">
                        <a:buNone/>
                      </a:pPr>
                      <a:r>
                        <a:rPr lang="en-IN" sz="1400" b="0" i="0" u="none" strike="noStrike">
                          <a:solidFill>
                            <a:srgbClr val="000000"/>
                          </a:solidFill>
                          <a:effectLst/>
                          <a:latin typeface="Aptos Narrow" panose="020B0004020202020204" pitchFamily="34" charset="0"/>
                        </a:rPr>
                        <a:t>Gross Profit</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Currency</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Custom Column -&gt; [[Marked_price * (1-discount)] - Cost_price] * quantity</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822195940"/>
                  </a:ext>
                </a:extLst>
              </a:tr>
              <a:tr h="264459">
                <a:tc>
                  <a:txBody>
                    <a:bodyPr/>
                    <a:lstStyle/>
                    <a:p>
                      <a:pPr algn="l" fontAlgn="b">
                        <a:buNone/>
                      </a:pPr>
                      <a:r>
                        <a:rPr lang="en-IN" sz="1400" b="0" i="0" u="none" strike="noStrike">
                          <a:solidFill>
                            <a:srgbClr val="000000"/>
                          </a:solidFill>
                          <a:effectLst/>
                          <a:latin typeface="Aptos Narrow" panose="020B0004020202020204" pitchFamily="34" charset="0"/>
                        </a:rPr>
                        <a:t>Category</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a:solidFill>
                            <a:srgbClr val="000000"/>
                          </a:solidFill>
                          <a:effectLst/>
                          <a:latin typeface="Aptos Narrow" panose="020B0004020202020204" pitchFamily="34" charset="0"/>
                        </a:rPr>
                        <a:t>Custom Column -&gt; Category from categories table</a:t>
                      </a:r>
                      <a:endParaRPr lang="en-US"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1974697252"/>
                  </a:ext>
                </a:extLst>
              </a:tr>
              <a:tr h="471878">
                <a:tc>
                  <a:txBody>
                    <a:bodyPr/>
                    <a:lstStyle/>
                    <a:p>
                      <a:pPr algn="l" fontAlgn="b">
                        <a:buNone/>
                      </a:pPr>
                      <a:r>
                        <a:rPr lang="en-IN" sz="1400" b="0" i="0" u="none" strike="noStrike">
                          <a:solidFill>
                            <a:srgbClr val="000000"/>
                          </a:solidFill>
                          <a:effectLst/>
                          <a:latin typeface="Aptos Narrow" panose="020B0004020202020204" pitchFamily="34" charset="0"/>
                        </a:rPr>
                        <a:t>Category Name</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IN" sz="14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785" marR="11785" marT="11785" marB="0" anchor="b">
                    <a:lnL>
                      <a:noFill/>
                    </a:lnL>
                    <a:lnR>
                      <a:noFill/>
                    </a:lnR>
                    <a:lnT>
                      <a:noFill/>
                    </a:lnT>
                    <a:lnB>
                      <a:noFill/>
                    </a:lnB>
                    <a:noFill/>
                  </a:tcPr>
                </a:tc>
                <a:tc>
                  <a:txBody>
                    <a:bodyPr/>
                    <a:lstStyle/>
                    <a:p>
                      <a:pPr algn="l" fontAlgn="b">
                        <a:buNone/>
                      </a:pPr>
                      <a:r>
                        <a:rPr lang="en-US" sz="1400" b="0" i="0" u="none" strike="noStrike" dirty="0">
                          <a:solidFill>
                            <a:srgbClr val="000000"/>
                          </a:solidFill>
                          <a:effectLst/>
                          <a:latin typeface="Aptos Narrow" panose="020B0004020202020204" pitchFamily="34" charset="0"/>
                        </a:rPr>
                        <a:t>Custom Column -&gt; Category name from categories table</a:t>
                      </a:r>
                      <a:endParaRPr lang="en-US" sz="2200" b="0" i="0" u="none" strike="noStrike" dirty="0">
                        <a:effectLst/>
                        <a:latin typeface="Arial" panose="020B0604020202020204" pitchFamily="34" charset="0"/>
                      </a:endParaRPr>
                    </a:p>
                  </a:txBody>
                  <a:tcPr marL="11785" marR="11785" marT="11785" marB="0" anchor="b">
                    <a:lnL>
                      <a:noFill/>
                    </a:lnL>
                    <a:lnR>
                      <a:noFill/>
                    </a:lnR>
                    <a:lnT>
                      <a:noFill/>
                    </a:lnT>
                    <a:lnB>
                      <a:noFill/>
                    </a:lnB>
                    <a:noFill/>
                  </a:tcPr>
                </a:tc>
                <a:extLst>
                  <a:ext uri="{0D108BD9-81ED-4DB2-BD59-A6C34878D82A}">
                    <a16:rowId xmlns:a16="http://schemas.microsoft.com/office/drawing/2014/main" val="2561564408"/>
                  </a:ext>
                </a:extLst>
              </a:tr>
            </a:tbl>
          </a:graphicData>
        </a:graphic>
      </p:graphicFrame>
      <p:sp>
        <p:nvSpPr>
          <p:cNvPr id="5" name="Content Placeholder 9">
            <a:extLst>
              <a:ext uri="{FF2B5EF4-FFF2-40B4-BE49-F238E27FC236}">
                <a16:creationId xmlns:a16="http://schemas.microsoft.com/office/drawing/2014/main" id="{CB958090-A703-0CD9-EB21-92E6F15999FD}"/>
              </a:ext>
            </a:extLst>
          </p:cNvPr>
          <p:cNvSpPr txBox="1">
            <a:spLocks/>
          </p:cNvSpPr>
          <p:nvPr/>
        </p:nvSpPr>
        <p:spPr>
          <a:xfrm>
            <a:off x="1038035" y="6019688"/>
            <a:ext cx="8132194" cy="72130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t>Note: </a:t>
            </a:r>
            <a:r>
              <a:rPr lang="en-US" dirty="0" err="1"/>
              <a:t>UnitPrice</a:t>
            </a:r>
            <a:r>
              <a:rPr lang="en-US" dirty="0"/>
              <a:t> Column is the Cost Price column.</a:t>
            </a:r>
            <a:endParaRPr lang="en-US" b="1" dirty="0"/>
          </a:p>
        </p:txBody>
      </p:sp>
    </p:spTree>
    <p:extLst>
      <p:ext uri="{BB962C8B-B14F-4D97-AF65-F5344CB8AC3E}">
        <p14:creationId xmlns:p14="http://schemas.microsoft.com/office/powerpoint/2010/main" val="4138906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98AD2745-115A-AF29-C27F-84F8AE21827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1BEDD2-868A-284F-B9FB-315B492399A8}"/>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dirty="0"/>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CC3320DD-5248-1BC6-F510-59430AA5240D}"/>
              </a:ext>
            </a:extLst>
          </p:cNvPr>
          <p:cNvSpPr>
            <a:spLocks noGrp="1"/>
          </p:cNvSpPr>
          <p:nvPr>
            <p:ph idx="1"/>
          </p:nvPr>
        </p:nvSpPr>
        <p:spPr>
          <a:xfrm>
            <a:off x="649225" y="2133600"/>
            <a:ext cx="3650278" cy="3759253"/>
          </a:xfrm>
        </p:spPr>
        <p:txBody>
          <a:bodyPr>
            <a:normAutofit/>
          </a:bodyPr>
          <a:lstStyle/>
          <a:p>
            <a:r>
              <a:rPr lang="en-US" dirty="0"/>
              <a:t>This table stores information about the company's employees. </a:t>
            </a:r>
          </a:p>
          <a:p>
            <a:r>
              <a:rPr lang="en-US" dirty="0"/>
              <a:t>It includes fields for employee ID, last name, first name, title, title of courtesy, birth date, hire date, address, city, region, postal code, country, home phone, extension, photo, notes, reports to, and photo path.</a:t>
            </a:r>
          </a:p>
        </p:txBody>
      </p:sp>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3">
            <a:extLst>
              <a:ext uri="{FF2B5EF4-FFF2-40B4-BE49-F238E27FC236}">
                <a16:creationId xmlns:a16="http://schemas.microsoft.com/office/drawing/2014/main" id="{A55904DB-A1CF-A376-1955-4B73FC89BB2F}"/>
              </a:ext>
            </a:extLst>
          </p:cNvPr>
          <p:cNvGraphicFramePr>
            <a:graphicFrameLocks/>
          </p:cNvGraphicFramePr>
          <p:nvPr>
            <p:extLst>
              <p:ext uri="{D42A27DB-BD31-4B8C-83A1-F6EECF244321}">
                <p14:modId xmlns:p14="http://schemas.microsoft.com/office/powerpoint/2010/main" val="2503615997"/>
              </p:ext>
            </p:extLst>
          </p:nvPr>
        </p:nvGraphicFramePr>
        <p:xfrm>
          <a:off x="4630920" y="640080"/>
          <a:ext cx="6930823" cy="5322594"/>
        </p:xfrm>
        <a:graphic>
          <a:graphicData uri="http://schemas.openxmlformats.org/drawingml/2006/table">
            <a:tbl>
              <a:tblPr/>
              <a:tblGrid>
                <a:gridCol w="1356404">
                  <a:extLst>
                    <a:ext uri="{9D8B030D-6E8A-4147-A177-3AD203B41FA5}">
                      <a16:colId xmlns:a16="http://schemas.microsoft.com/office/drawing/2014/main" val="3338107822"/>
                    </a:ext>
                  </a:extLst>
                </a:gridCol>
                <a:gridCol w="674387">
                  <a:extLst>
                    <a:ext uri="{9D8B030D-6E8A-4147-A177-3AD203B41FA5}">
                      <a16:colId xmlns:a16="http://schemas.microsoft.com/office/drawing/2014/main" val="348990670"/>
                    </a:ext>
                  </a:extLst>
                </a:gridCol>
                <a:gridCol w="4900032">
                  <a:extLst>
                    <a:ext uri="{9D8B030D-6E8A-4147-A177-3AD203B41FA5}">
                      <a16:colId xmlns:a16="http://schemas.microsoft.com/office/drawing/2014/main" val="1430265397"/>
                    </a:ext>
                  </a:extLst>
                </a:gridCol>
              </a:tblGrid>
              <a:tr h="214049">
                <a:tc>
                  <a:txBody>
                    <a:bodyPr/>
                    <a:lstStyle/>
                    <a:p>
                      <a:pPr algn="l" fontAlgn="b">
                        <a:buNone/>
                      </a:pPr>
                      <a:r>
                        <a:rPr lang="en-IN" sz="1600" b="0" i="0" u="none" strike="noStrike" dirty="0">
                          <a:solidFill>
                            <a:srgbClr val="FFFFFF"/>
                          </a:solidFill>
                          <a:effectLst/>
                          <a:latin typeface="Aptos Narrow" panose="020B0004020202020204" pitchFamily="34" charset="0"/>
                        </a:rPr>
                        <a:t>Employees</a:t>
                      </a:r>
                      <a:endParaRPr lang="en-IN" sz="2800" b="0" i="0" u="none" strike="noStrike" dirty="0">
                        <a:effectLst/>
                        <a:latin typeface="Arial" panose="020B0604020202020204" pitchFamily="34" charset="0"/>
                      </a:endParaRPr>
                    </a:p>
                  </a:txBody>
                  <a:tcPr marL="9539" marR="9539" marT="9539" marB="0" anchor="b">
                    <a:lnL>
                      <a:noFill/>
                    </a:lnL>
                    <a:lnR>
                      <a:noFill/>
                    </a:lnR>
                    <a:lnT>
                      <a:noFill/>
                    </a:lnT>
                    <a:lnB>
                      <a:noFill/>
                    </a:lnB>
                    <a:solidFill>
                      <a:srgbClr val="196B24"/>
                    </a:solidFill>
                  </a:tcPr>
                </a:tc>
                <a:tc>
                  <a:txBody>
                    <a:bodyPr/>
                    <a:lstStyle/>
                    <a:p>
                      <a:pPr algn="l" fontAlgn="b">
                        <a:buNone/>
                      </a:pPr>
                      <a:r>
                        <a:rPr lang="en-IN" sz="1100" b="0" i="0" u="none" strike="noStrike">
                          <a:solidFill>
                            <a:srgbClr val="FFFFFF"/>
                          </a:solidFill>
                          <a:effectLst/>
                          <a:latin typeface="Aptos Narrow" panose="020B0004020202020204" pitchFamily="34" charset="0"/>
                        </a:rPr>
                        <a:t> </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solidFill>
                      <a:srgbClr val="196B24"/>
                    </a:solidFill>
                  </a:tcPr>
                </a:tc>
                <a:tc>
                  <a:txBody>
                    <a:bodyPr/>
                    <a:lstStyle/>
                    <a:p>
                      <a:pPr algn="l" fontAlgn="b">
                        <a:buNone/>
                      </a:pPr>
                      <a:endParaRPr lang="en-IN" sz="1800" b="0" i="0" u="none" strike="noStrike" dirty="0">
                        <a:effectLst/>
                        <a:latin typeface="Arial" panose="020B0604020202020204" pitchFamily="34" charset="0"/>
                      </a:endParaRPr>
                    </a:p>
                  </a:txBody>
                  <a:tcPr marL="9539" marR="9539" marT="9539" marB="0" anchor="b">
                    <a:lnL>
                      <a:noFill/>
                    </a:lnL>
                    <a:lnR>
                      <a:noFill/>
                    </a:lnR>
                    <a:lnT>
                      <a:noFill/>
                    </a:lnT>
                    <a:lnB>
                      <a:noFill/>
                    </a:lnB>
                    <a:solidFill>
                      <a:srgbClr val="196B24"/>
                    </a:solidFill>
                  </a:tcPr>
                </a:tc>
                <a:extLst>
                  <a:ext uri="{0D108BD9-81ED-4DB2-BD59-A6C34878D82A}">
                    <a16:rowId xmlns:a16="http://schemas.microsoft.com/office/drawing/2014/main" val="2056600471"/>
                  </a:ext>
                </a:extLst>
              </a:tr>
              <a:tr h="375825">
                <a:tc>
                  <a:txBody>
                    <a:bodyPr/>
                    <a:lstStyle/>
                    <a:p>
                      <a:pPr algn="l" fontAlgn="b">
                        <a:buNone/>
                      </a:pP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1133386069"/>
                  </a:ext>
                </a:extLst>
              </a:tr>
              <a:tr h="214049">
                <a:tc>
                  <a:txBody>
                    <a:bodyPr/>
                    <a:lstStyle/>
                    <a:p>
                      <a:pPr algn="l" fontAlgn="b">
                        <a:buNone/>
                      </a:pPr>
                      <a:r>
                        <a:rPr lang="en-IN" sz="1100" b="0" i="0" u="none" strike="noStrike">
                          <a:solidFill>
                            <a:srgbClr val="006100"/>
                          </a:solidFill>
                          <a:effectLst/>
                          <a:latin typeface="Aptos Narrow" panose="020B0004020202020204" pitchFamily="34" charset="0"/>
                        </a:rPr>
                        <a:t>Columns</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solidFill>
                      <a:srgbClr val="C6EFCE"/>
                    </a:solidFill>
                  </a:tcPr>
                </a:tc>
                <a:tc>
                  <a:txBody>
                    <a:bodyPr/>
                    <a:lstStyle/>
                    <a:p>
                      <a:pPr algn="l" fontAlgn="b">
                        <a:buNone/>
                      </a:pPr>
                      <a:r>
                        <a:rPr lang="en-IN" sz="1100" b="0" i="0" u="none" strike="noStrike">
                          <a:solidFill>
                            <a:srgbClr val="006100"/>
                          </a:solidFill>
                          <a:effectLst/>
                          <a:latin typeface="Aptos Narrow" panose="020B0004020202020204" pitchFamily="34" charset="0"/>
                        </a:rPr>
                        <a:t>Data Type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solidFill>
                      <a:srgbClr val="C6EFCE"/>
                    </a:solidFill>
                  </a:tcPr>
                </a:tc>
                <a:tc>
                  <a:txBody>
                    <a:bodyPr/>
                    <a:lstStyle/>
                    <a:p>
                      <a:pPr algn="l" fontAlgn="b">
                        <a:buNone/>
                      </a:pPr>
                      <a:r>
                        <a:rPr lang="en-IN" sz="1100" b="0" i="0" u="none" strike="noStrike">
                          <a:solidFill>
                            <a:srgbClr val="006100"/>
                          </a:solidFill>
                          <a:effectLst/>
                          <a:latin typeface="Aptos Narrow" panose="020B0004020202020204" pitchFamily="34" charset="0"/>
                        </a:rPr>
                        <a:t>Description</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solidFill>
                      <a:srgbClr val="C6EFCE"/>
                    </a:solidFill>
                  </a:tcPr>
                </a:tc>
                <a:extLst>
                  <a:ext uri="{0D108BD9-81ED-4DB2-BD59-A6C34878D82A}">
                    <a16:rowId xmlns:a16="http://schemas.microsoft.com/office/drawing/2014/main" val="1070800282"/>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EmployeeID</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Unique identifier for Employees table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1718788837"/>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FirstName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First Name of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4127790673"/>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LastName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Last Name of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1228976816"/>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Title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Position in the organisation</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3981997655"/>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TitleOfCourtesy</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Title Of Courtesy of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1405881661"/>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BirthDate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Date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Birth Date of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531129542"/>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HireDate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Date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Hire Date of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609476242"/>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Address</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Address of the employee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3111052115"/>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City</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City of the employee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774272716"/>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Region</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Region of the employee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307392373"/>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PostalCode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Postal Code of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2784652805"/>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Country</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Country of the employee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3489787032"/>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HomePhone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Home Phone of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3176942777"/>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Extension</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Position in the organisation</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2190513486"/>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Photo</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General</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Photo of the employee</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1526109605"/>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Notes</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Text</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Brief information about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3731102000"/>
                  </a:ext>
                </a:extLst>
              </a:tr>
              <a:tr h="381930">
                <a:tc>
                  <a:txBody>
                    <a:bodyPr/>
                    <a:lstStyle/>
                    <a:p>
                      <a:pPr algn="l" fontAlgn="b">
                        <a:buNone/>
                      </a:pPr>
                      <a:r>
                        <a:rPr lang="en-IN" sz="1100" b="0" i="0" u="none" strike="noStrike">
                          <a:solidFill>
                            <a:srgbClr val="000000"/>
                          </a:solidFill>
                          <a:effectLst/>
                          <a:latin typeface="Aptos Narrow" panose="020B0004020202020204" pitchFamily="34" charset="0"/>
                        </a:rPr>
                        <a:t>ReportsTo</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EmployeeID to which current employee reports to. -1 indicates the employee reports to no one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2617241656"/>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Total Orders</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Number</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Total orders brought by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2638357335"/>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Total sales</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Currency</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Custom Column -&gt; Total sales made by the employee</a:t>
                      </a:r>
                      <a:endParaRPr lang="en-US" sz="1800" b="0" i="0" u="none" strike="noStrike">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4166082072"/>
                  </a:ext>
                </a:extLst>
              </a:tr>
              <a:tr h="214049">
                <a:tc>
                  <a:txBody>
                    <a:bodyPr/>
                    <a:lstStyle/>
                    <a:p>
                      <a:pPr algn="l" fontAlgn="b">
                        <a:buNone/>
                      </a:pPr>
                      <a:r>
                        <a:rPr lang="en-IN" sz="1100" b="0" i="0" u="none" strike="noStrike">
                          <a:solidFill>
                            <a:srgbClr val="000000"/>
                          </a:solidFill>
                          <a:effectLst/>
                          <a:latin typeface="Aptos Narrow" panose="020B0004020202020204" pitchFamily="34" charset="0"/>
                        </a:rPr>
                        <a:t>Average sale per order</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IN" sz="1100" b="0" i="0" u="none" strike="noStrike">
                          <a:solidFill>
                            <a:srgbClr val="000000"/>
                          </a:solidFill>
                          <a:effectLst/>
                          <a:latin typeface="Aptos Narrow" panose="020B0004020202020204" pitchFamily="34" charset="0"/>
                        </a:rPr>
                        <a:t>Currency</a:t>
                      </a:r>
                      <a:endParaRPr lang="en-IN" sz="1800" b="0" i="0" u="none" strike="noStrike">
                        <a:effectLst/>
                        <a:latin typeface="Arial" panose="020B0604020202020204" pitchFamily="34" charset="0"/>
                      </a:endParaRPr>
                    </a:p>
                  </a:txBody>
                  <a:tcPr marL="9539" marR="9539" marT="9539" marB="0" anchor="b">
                    <a:lnL>
                      <a:noFill/>
                    </a:lnL>
                    <a:lnR>
                      <a:noFill/>
                    </a:lnR>
                    <a:lnT>
                      <a:noFill/>
                    </a:lnT>
                    <a:lnB>
                      <a:noFill/>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Custom Column -&gt; Average sale per order made by the employee</a:t>
                      </a:r>
                      <a:endParaRPr lang="en-US" sz="1800" b="0" i="0" u="none" strike="noStrike" dirty="0">
                        <a:effectLst/>
                        <a:latin typeface="Arial" panose="020B0604020202020204" pitchFamily="34" charset="0"/>
                      </a:endParaRPr>
                    </a:p>
                  </a:txBody>
                  <a:tcPr marL="9539" marR="9539" marT="9539" marB="0" anchor="b">
                    <a:lnL>
                      <a:noFill/>
                    </a:lnL>
                    <a:lnR>
                      <a:noFill/>
                    </a:lnR>
                    <a:lnT>
                      <a:noFill/>
                    </a:lnT>
                    <a:lnB>
                      <a:noFill/>
                    </a:lnB>
                    <a:noFill/>
                  </a:tcPr>
                </a:tc>
                <a:extLst>
                  <a:ext uri="{0D108BD9-81ED-4DB2-BD59-A6C34878D82A}">
                    <a16:rowId xmlns:a16="http://schemas.microsoft.com/office/drawing/2014/main" val="413011241"/>
                  </a:ext>
                </a:extLst>
              </a:tr>
            </a:tbl>
          </a:graphicData>
        </a:graphic>
      </p:graphicFrame>
    </p:spTree>
    <p:extLst>
      <p:ext uri="{BB962C8B-B14F-4D97-AF65-F5344CB8AC3E}">
        <p14:creationId xmlns:p14="http://schemas.microsoft.com/office/powerpoint/2010/main" val="900320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06A4C0FA-D0CF-5DE3-AF1F-47FC1A21BD1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9FD95-4225-E4BE-0AE0-7FBC0867D28B}"/>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dirty="0"/>
          </a:p>
        </p:txBody>
      </p:sp>
      <p:sp>
        <p:nvSpPr>
          <p:cNvPr id="15" name="Rectangle 14">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Content Placeholder 9">
            <a:extLst>
              <a:ext uri="{FF2B5EF4-FFF2-40B4-BE49-F238E27FC236}">
                <a16:creationId xmlns:a16="http://schemas.microsoft.com/office/drawing/2014/main" id="{072CF36B-33B5-339E-8DB2-F7CE47A81659}"/>
              </a:ext>
            </a:extLst>
          </p:cNvPr>
          <p:cNvSpPr>
            <a:spLocks noGrp="1"/>
          </p:cNvSpPr>
          <p:nvPr>
            <p:ph idx="1"/>
          </p:nvPr>
        </p:nvSpPr>
        <p:spPr>
          <a:xfrm>
            <a:off x="649225" y="2133600"/>
            <a:ext cx="3650278" cy="3759253"/>
          </a:xfrm>
        </p:spPr>
        <p:txBody>
          <a:bodyPr>
            <a:normAutofit/>
          </a:bodyPr>
          <a:lstStyle/>
          <a:p>
            <a:r>
              <a:rPr lang="en-US" dirty="0"/>
              <a:t>This table stores information about the company's customers.</a:t>
            </a:r>
          </a:p>
          <a:p>
            <a:r>
              <a:rPr lang="en-US" dirty="0"/>
              <a:t>It includes fields for customer ID, company name, contact name, contact title, address, city, region, postal code, country, phone, and fax.</a:t>
            </a:r>
          </a:p>
        </p:txBody>
      </p:sp>
      <p:sp>
        <p:nvSpPr>
          <p:cNvPr id="17"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4">
            <a:extLst>
              <a:ext uri="{FF2B5EF4-FFF2-40B4-BE49-F238E27FC236}">
                <a16:creationId xmlns:a16="http://schemas.microsoft.com/office/drawing/2014/main" id="{9B76D702-A3A1-CAD8-B0EB-BC0CC07EC0C1}"/>
              </a:ext>
            </a:extLst>
          </p:cNvPr>
          <p:cNvGraphicFramePr>
            <a:graphicFrameLocks/>
          </p:cNvGraphicFramePr>
          <p:nvPr>
            <p:extLst>
              <p:ext uri="{D42A27DB-BD31-4B8C-83A1-F6EECF244321}">
                <p14:modId xmlns:p14="http://schemas.microsoft.com/office/powerpoint/2010/main" val="3578275265"/>
              </p:ext>
            </p:extLst>
          </p:nvPr>
        </p:nvGraphicFramePr>
        <p:xfrm>
          <a:off x="4674667" y="640080"/>
          <a:ext cx="6843330" cy="5252781"/>
        </p:xfrm>
        <a:graphic>
          <a:graphicData uri="http://schemas.openxmlformats.org/drawingml/2006/table">
            <a:tbl>
              <a:tblPr/>
              <a:tblGrid>
                <a:gridCol w="2178259">
                  <a:extLst>
                    <a:ext uri="{9D8B030D-6E8A-4147-A177-3AD203B41FA5}">
                      <a16:colId xmlns:a16="http://schemas.microsoft.com/office/drawing/2014/main" val="3365063139"/>
                    </a:ext>
                  </a:extLst>
                </a:gridCol>
                <a:gridCol w="1172761">
                  <a:extLst>
                    <a:ext uri="{9D8B030D-6E8A-4147-A177-3AD203B41FA5}">
                      <a16:colId xmlns:a16="http://schemas.microsoft.com/office/drawing/2014/main" val="821614917"/>
                    </a:ext>
                  </a:extLst>
                </a:gridCol>
                <a:gridCol w="3492310">
                  <a:extLst>
                    <a:ext uri="{9D8B030D-6E8A-4147-A177-3AD203B41FA5}">
                      <a16:colId xmlns:a16="http://schemas.microsoft.com/office/drawing/2014/main" val="1984083981"/>
                    </a:ext>
                  </a:extLst>
                </a:gridCol>
              </a:tblGrid>
              <a:tr h="261219">
                <a:tc>
                  <a:txBody>
                    <a:bodyPr/>
                    <a:lstStyle/>
                    <a:p>
                      <a:pPr algn="l" fontAlgn="b">
                        <a:buNone/>
                      </a:pPr>
                      <a:r>
                        <a:rPr lang="en-IN" sz="1300" b="0" i="0" u="none" strike="noStrike">
                          <a:solidFill>
                            <a:srgbClr val="FFFFFF"/>
                          </a:solidFill>
                          <a:effectLst/>
                          <a:latin typeface="Aptos Narrow" panose="020B0004020202020204" pitchFamily="34" charset="0"/>
                        </a:rPr>
                        <a:t>Customers</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solidFill>
                      <a:srgbClr val="196B24"/>
                    </a:solidFill>
                  </a:tcPr>
                </a:tc>
                <a:tc>
                  <a:txBody>
                    <a:bodyPr/>
                    <a:lstStyle/>
                    <a:p>
                      <a:pPr algn="l" fontAlgn="b">
                        <a:buNone/>
                      </a:pPr>
                      <a:r>
                        <a:rPr lang="en-IN" sz="1300" b="0" i="0" u="none" strike="noStrike">
                          <a:solidFill>
                            <a:srgbClr val="FFFFFF"/>
                          </a:solidFill>
                          <a:effectLst/>
                          <a:latin typeface="Aptos Narrow" panose="020B0004020202020204" pitchFamily="34" charset="0"/>
                        </a:rPr>
                        <a:t> </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solidFill>
                      <a:srgbClr val="196B24"/>
                    </a:solidFill>
                  </a:tcPr>
                </a:tc>
                <a:tc>
                  <a:txBody>
                    <a:bodyPr/>
                    <a:lstStyle/>
                    <a:p>
                      <a:pPr algn="l" fontAlgn="b">
                        <a:buNone/>
                      </a:pPr>
                      <a:r>
                        <a:rPr lang="en-US" sz="1300" b="0" i="0" u="sng" strike="noStrike" dirty="0">
                          <a:solidFill>
                            <a:srgbClr val="FFFFFF"/>
                          </a:solidFill>
                          <a:effectLst/>
                          <a:latin typeface="Aptos Narrow" panose="020B0004020202020204" pitchFamily="34" charset="0"/>
                        </a:rPr>
                        <a:t> </a:t>
                      </a:r>
                      <a:endParaRPr lang="en-IN" sz="2200" b="0" i="0" u="none" strike="noStrike" dirty="0">
                        <a:effectLst/>
                        <a:latin typeface="Arial" panose="020B0604020202020204" pitchFamily="34" charset="0"/>
                      </a:endParaRPr>
                    </a:p>
                  </a:txBody>
                  <a:tcPr marL="11641" marR="11641" marT="11641" marB="0" anchor="b">
                    <a:lnL>
                      <a:noFill/>
                    </a:lnL>
                    <a:lnR>
                      <a:noFill/>
                    </a:lnR>
                    <a:lnT>
                      <a:noFill/>
                    </a:lnT>
                    <a:lnB>
                      <a:noFill/>
                    </a:lnB>
                    <a:solidFill>
                      <a:srgbClr val="196B24"/>
                    </a:solidFill>
                  </a:tcPr>
                </a:tc>
                <a:extLst>
                  <a:ext uri="{0D108BD9-81ED-4DB2-BD59-A6C34878D82A}">
                    <a16:rowId xmlns:a16="http://schemas.microsoft.com/office/drawing/2014/main" val="4009238967"/>
                  </a:ext>
                </a:extLst>
              </a:tr>
              <a:tr h="458646">
                <a:tc>
                  <a:txBody>
                    <a:bodyPr/>
                    <a:lstStyle/>
                    <a:p>
                      <a:pPr algn="l" fontAlgn="b">
                        <a:buNone/>
                      </a:pP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246234460"/>
                  </a:ext>
                </a:extLst>
              </a:tr>
              <a:tr h="261219">
                <a:tc>
                  <a:txBody>
                    <a:bodyPr/>
                    <a:lstStyle/>
                    <a:p>
                      <a:pPr algn="l" fontAlgn="b">
                        <a:buNone/>
                      </a:pPr>
                      <a:r>
                        <a:rPr lang="en-IN" sz="1300" b="0" i="0" u="none" strike="noStrike">
                          <a:solidFill>
                            <a:srgbClr val="006100"/>
                          </a:solidFill>
                          <a:effectLst/>
                          <a:latin typeface="Aptos Narrow" panose="020B0004020202020204" pitchFamily="34" charset="0"/>
                        </a:rPr>
                        <a:t>Columns</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solidFill>
                      <a:srgbClr val="C6EFCE"/>
                    </a:solidFill>
                  </a:tcPr>
                </a:tc>
                <a:tc>
                  <a:txBody>
                    <a:bodyPr/>
                    <a:lstStyle/>
                    <a:p>
                      <a:pPr algn="l" fontAlgn="b">
                        <a:buNone/>
                      </a:pPr>
                      <a:r>
                        <a:rPr lang="en-IN" sz="1300" b="0" i="0" u="none" strike="noStrike">
                          <a:solidFill>
                            <a:srgbClr val="006100"/>
                          </a:solidFill>
                          <a:effectLst/>
                          <a:latin typeface="Aptos Narrow" panose="020B0004020202020204" pitchFamily="34" charset="0"/>
                        </a:rPr>
                        <a:t>Data Type</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solidFill>
                      <a:srgbClr val="C6EFCE"/>
                    </a:solidFill>
                  </a:tcPr>
                </a:tc>
                <a:tc>
                  <a:txBody>
                    <a:bodyPr/>
                    <a:lstStyle/>
                    <a:p>
                      <a:pPr algn="l" fontAlgn="b">
                        <a:buNone/>
                      </a:pPr>
                      <a:r>
                        <a:rPr lang="en-IN" sz="1300" b="0" i="0" u="none" strike="noStrike">
                          <a:solidFill>
                            <a:srgbClr val="006100"/>
                          </a:solidFill>
                          <a:effectLst/>
                          <a:latin typeface="Aptos Narrow" panose="020B0004020202020204" pitchFamily="34" charset="0"/>
                        </a:rPr>
                        <a:t>Description</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solidFill>
                      <a:srgbClr val="C6EFCE"/>
                    </a:solidFill>
                  </a:tcPr>
                </a:tc>
                <a:extLst>
                  <a:ext uri="{0D108BD9-81ED-4DB2-BD59-A6C34878D82A}">
                    <a16:rowId xmlns:a16="http://schemas.microsoft.com/office/drawing/2014/main" val="1974698428"/>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CustomerID</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Number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Unique identifier for Customers table</a:t>
                      </a: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1956832867"/>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CompanyName</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Name of the customer company</a:t>
                      </a: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1424695273"/>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ContactName</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Name of the contact person in the company</a:t>
                      </a: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3109706030"/>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ContactTitle</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Position of the contact person in the company</a:t>
                      </a: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87459122"/>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Address</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Address of the customer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1850253395"/>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City</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City of the Customer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913787044"/>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Region</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Region of the customer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3200506877"/>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PostalCode</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Postal Code of the customer</a:t>
                      </a: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1112095830"/>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Country</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Country of the customer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372002043"/>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Phone</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Phone of the customer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061026058"/>
                  </a:ext>
                </a:extLst>
              </a:tr>
              <a:tr h="261219">
                <a:tc>
                  <a:txBody>
                    <a:bodyPr/>
                    <a:lstStyle/>
                    <a:p>
                      <a:pPr algn="l" fontAlgn="b">
                        <a:buNone/>
                      </a:pPr>
                      <a:r>
                        <a:rPr lang="en-IN" sz="1300" b="0" i="0" u="none" strike="noStrike">
                          <a:solidFill>
                            <a:srgbClr val="000000"/>
                          </a:solidFill>
                          <a:effectLst/>
                          <a:latin typeface="Aptos Narrow" panose="020B0004020202020204" pitchFamily="34" charset="0"/>
                        </a:rPr>
                        <a:t>Fax</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Text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Fax of the customer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862528045"/>
                  </a:ext>
                </a:extLst>
              </a:tr>
              <a:tr h="466096">
                <a:tc>
                  <a:txBody>
                    <a:bodyPr/>
                    <a:lstStyle/>
                    <a:p>
                      <a:pPr algn="l" fontAlgn="b">
                        <a:buNone/>
                      </a:pPr>
                      <a:r>
                        <a:rPr lang="en-IN" sz="1300" b="0" i="0" u="none" strike="noStrike">
                          <a:solidFill>
                            <a:srgbClr val="000000"/>
                          </a:solidFill>
                          <a:effectLst/>
                          <a:latin typeface="Aptos Narrow" panose="020B0004020202020204" pitchFamily="34" charset="0"/>
                        </a:rPr>
                        <a:t>Total Orders</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Number</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Custom Column -&gt; Total orders placed by the customer</a:t>
                      </a: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015945756"/>
                  </a:ext>
                </a:extLst>
              </a:tr>
              <a:tr h="466096">
                <a:tc>
                  <a:txBody>
                    <a:bodyPr/>
                    <a:lstStyle/>
                    <a:p>
                      <a:pPr algn="l" fontAlgn="b">
                        <a:buNone/>
                      </a:pPr>
                      <a:r>
                        <a:rPr lang="en-IN" sz="1300" b="0" i="0" u="none" strike="noStrike">
                          <a:solidFill>
                            <a:srgbClr val="000000"/>
                          </a:solidFill>
                          <a:effectLst/>
                          <a:latin typeface="Aptos Narrow" panose="020B0004020202020204" pitchFamily="34" charset="0"/>
                        </a:rPr>
                        <a:t>Average Order Amount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Currency</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a:solidFill>
                            <a:srgbClr val="000000"/>
                          </a:solidFill>
                          <a:effectLst/>
                          <a:latin typeface="Aptos Narrow" panose="020B0004020202020204" pitchFamily="34" charset="0"/>
                        </a:rPr>
                        <a:t>Custom Column -&gt; Average order amount of the orders placed by the customer</a:t>
                      </a:r>
                      <a:endParaRPr lang="en-US"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385939843"/>
                  </a:ext>
                </a:extLst>
              </a:tr>
              <a:tr h="466096">
                <a:tc>
                  <a:txBody>
                    <a:bodyPr/>
                    <a:lstStyle/>
                    <a:p>
                      <a:pPr algn="l" fontAlgn="b">
                        <a:buNone/>
                      </a:pPr>
                      <a:r>
                        <a:rPr lang="en-IN" sz="1300" b="0" i="0" u="none" strike="noStrike">
                          <a:solidFill>
                            <a:srgbClr val="000000"/>
                          </a:solidFill>
                          <a:effectLst/>
                          <a:latin typeface="Aptos Narrow" panose="020B0004020202020204" pitchFamily="34" charset="0"/>
                        </a:rPr>
                        <a:t>Total Amount Spent</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IN" sz="1300" b="0" i="0" u="none" strike="noStrike">
                          <a:solidFill>
                            <a:srgbClr val="000000"/>
                          </a:solidFill>
                          <a:effectLst/>
                          <a:latin typeface="Aptos Narrow" panose="020B0004020202020204" pitchFamily="34" charset="0"/>
                        </a:rPr>
                        <a:t>Currency</a:t>
                      </a:r>
                      <a:endParaRPr lang="en-IN" sz="2200" b="0" i="0" u="none" strike="noStrike">
                        <a:effectLst/>
                        <a:latin typeface="Arial" panose="020B0604020202020204" pitchFamily="34" charset="0"/>
                      </a:endParaRPr>
                    </a:p>
                  </a:txBody>
                  <a:tcPr marL="11641" marR="11641" marT="11641" marB="0" anchor="b">
                    <a:lnL>
                      <a:noFill/>
                    </a:lnL>
                    <a:lnR>
                      <a:noFill/>
                    </a:lnR>
                    <a:lnT>
                      <a:noFill/>
                    </a:lnT>
                    <a:lnB>
                      <a:noFill/>
                    </a:lnB>
                    <a:noFill/>
                  </a:tcPr>
                </a:tc>
                <a:tc>
                  <a:txBody>
                    <a:bodyPr/>
                    <a:lstStyle/>
                    <a:p>
                      <a:pPr algn="l" fontAlgn="b">
                        <a:buNone/>
                      </a:pPr>
                      <a:r>
                        <a:rPr lang="en-US" sz="1300" b="0" i="0" u="none" strike="noStrike" dirty="0">
                          <a:solidFill>
                            <a:srgbClr val="000000"/>
                          </a:solidFill>
                          <a:effectLst/>
                          <a:latin typeface="Aptos Narrow" panose="020B0004020202020204" pitchFamily="34" charset="0"/>
                        </a:rPr>
                        <a:t>Custom Column -&gt; Total amount spent by the customer</a:t>
                      </a:r>
                      <a:endParaRPr lang="en-US" sz="2200" b="0" i="0" u="none" strike="noStrike" dirty="0">
                        <a:effectLst/>
                        <a:latin typeface="Arial" panose="020B0604020202020204" pitchFamily="34" charset="0"/>
                      </a:endParaRPr>
                    </a:p>
                  </a:txBody>
                  <a:tcPr marL="11641" marR="11641" marT="11641" marB="0" anchor="b">
                    <a:lnL>
                      <a:noFill/>
                    </a:lnL>
                    <a:lnR>
                      <a:noFill/>
                    </a:lnR>
                    <a:lnT>
                      <a:noFill/>
                    </a:lnT>
                    <a:lnB>
                      <a:noFill/>
                    </a:lnB>
                    <a:noFill/>
                  </a:tcPr>
                </a:tc>
                <a:extLst>
                  <a:ext uri="{0D108BD9-81ED-4DB2-BD59-A6C34878D82A}">
                    <a16:rowId xmlns:a16="http://schemas.microsoft.com/office/drawing/2014/main" val="2098384677"/>
                  </a:ext>
                </a:extLst>
              </a:tr>
            </a:tbl>
          </a:graphicData>
        </a:graphic>
      </p:graphicFrame>
    </p:spTree>
    <p:extLst>
      <p:ext uri="{BB962C8B-B14F-4D97-AF65-F5344CB8AC3E}">
        <p14:creationId xmlns:p14="http://schemas.microsoft.com/office/powerpoint/2010/main" val="187348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0B61D0E5-8FA3-21D9-E223-D6E700D7FC5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BBFB9D-372B-35D0-47BA-2F0C1F4DF5C5}"/>
              </a:ext>
            </a:extLst>
          </p:cNvPr>
          <p:cNvSpPr>
            <a:spLocks noGrp="1"/>
          </p:cNvSpPr>
          <p:nvPr>
            <p:ph type="title"/>
          </p:nvPr>
        </p:nvSpPr>
        <p:spPr>
          <a:xfrm>
            <a:off x="649224" y="645106"/>
            <a:ext cx="3650279" cy="1259894"/>
          </a:xfrm>
        </p:spPr>
        <p:txBody>
          <a:bodyPr>
            <a:normAutofit/>
          </a:bodyPr>
          <a:lstStyle/>
          <a:p>
            <a:r>
              <a:rPr lang="en-US" b="1" dirty="0"/>
              <a:t>Data Dictionary</a:t>
            </a:r>
            <a:endParaRPr lang="en-IN" dirty="0"/>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F8ED4210-1EED-93E3-BD44-4E91EC7B855D}"/>
              </a:ext>
            </a:extLst>
          </p:cNvPr>
          <p:cNvSpPr>
            <a:spLocks noGrp="1"/>
          </p:cNvSpPr>
          <p:nvPr>
            <p:ph idx="1"/>
          </p:nvPr>
        </p:nvSpPr>
        <p:spPr>
          <a:xfrm>
            <a:off x="649225" y="2133600"/>
            <a:ext cx="3650278" cy="3759253"/>
          </a:xfrm>
        </p:spPr>
        <p:txBody>
          <a:bodyPr>
            <a:normAutofit/>
          </a:bodyPr>
          <a:lstStyle/>
          <a:p>
            <a:r>
              <a:rPr lang="en-US" dirty="0"/>
              <a:t>This table stores information about the product categories.</a:t>
            </a:r>
          </a:p>
          <a:p>
            <a:r>
              <a:rPr lang="en-US" dirty="0"/>
              <a:t>It includes fields for category ID, category name, and description.</a:t>
            </a:r>
          </a:p>
        </p:txBody>
      </p:sp>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3">
            <a:extLst>
              <a:ext uri="{FF2B5EF4-FFF2-40B4-BE49-F238E27FC236}">
                <a16:creationId xmlns:a16="http://schemas.microsoft.com/office/drawing/2014/main" id="{AC5AB1FF-79E0-2219-3EA7-2BE0B863B9C6}"/>
              </a:ext>
            </a:extLst>
          </p:cNvPr>
          <p:cNvGraphicFramePr>
            <a:graphicFrameLocks/>
          </p:cNvGraphicFramePr>
          <p:nvPr>
            <p:extLst>
              <p:ext uri="{D42A27DB-BD31-4B8C-83A1-F6EECF244321}">
                <p14:modId xmlns:p14="http://schemas.microsoft.com/office/powerpoint/2010/main" val="3271035991"/>
              </p:ext>
            </p:extLst>
          </p:nvPr>
        </p:nvGraphicFramePr>
        <p:xfrm>
          <a:off x="4619543" y="738920"/>
          <a:ext cx="6953579" cy="5055096"/>
        </p:xfrm>
        <a:graphic>
          <a:graphicData uri="http://schemas.openxmlformats.org/drawingml/2006/table">
            <a:tbl>
              <a:tblPr/>
              <a:tblGrid>
                <a:gridCol w="1879631">
                  <a:extLst>
                    <a:ext uri="{9D8B030D-6E8A-4147-A177-3AD203B41FA5}">
                      <a16:colId xmlns:a16="http://schemas.microsoft.com/office/drawing/2014/main" val="3173509764"/>
                    </a:ext>
                  </a:extLst>
                </a:gridCol>
                <a:gridCol w="1315308">
                  <a:extLst>
                    <a:ext uri="{9D8B030D-6E8A-4147-A177-3AD203B41FA5}">
                      <a16:colId xmlns:a16="http://schemas.microsoft.com/office/drawing/2014/main" val="75114482"/>
                    </a:ext>
                  </a:extLst>
                </a:gridCol>
                <a:gridCol w="3758640">
                  <a:extLst>
                    <a:ext uri="{9D8B030D-6E8A-4147-A177-3AD203B41FA5}">
                      <a16:colId xmlns:a16="http://schemas.microsoft.com/office/drawing/2014/main" val="721261876"/>
                    </a:ext>
                  </a:extLst>
                </a:gridCol>
              </a:tblGrid>
              <a:tr h="417475">
                <a:tc>
                  <a:txBody>
                    <a:bodyPr/>
                    <a:lstStyle/>
                    <a:p>
                      <a:pPr algn="l" fontAlgn="b">
                        <a:buNone/>
                      </a:pPr>
                      <a:r>
                        <a:rPr lang="en-IN" sz="2100" b="0" i="0" u="none" strike="noStrike">
                          <a:solidFill>
                            <a:srgbClr val="FFFFFF"/>
                          </a:solidFill>
                          <a:effectLst/>
                          <a:latin typeface="Aptos Narrow" panose="020B0004020202020204" pitchFamily="34" charset="0"/>
                        </a:rPr>
                        <a:t>Categories</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solidFill>
                      <a:srgbClr val="196B24"/>
                    </a:solidFill>
                  </a:tcPr>
                </a:tc>
                <a:tc>
                  <a:txBody>
                    <a:bodyPr/>
                    <a:lstStyle/>
                    <a:p>
                      <a:pPr algn="l" fontAlgn="b">
                        <a:buNone/>
                      </a:pPr>
                      <a:r>
                        <a:rPr lang="en-IN" sz="2100" b="0" i="0" u="none" strike="noStrike">
                          <a:solidFill>
                            <a:srgbClr val="FFFFFF"/>
                          </a:solidFill>
                          <a:effectLst/>
                          <a:latin typeface="Aptos Narrow" panose="020B0004020202020204" pitchFamily="34" charset="0"/>
                        </a:rPr>
                        <a:t> </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solidFill>
                      <a:srgbClr val="196B24"/>
                    </a:solidFill>
                  </a:tcPr>
                </a:tc>
                <a:tc>
                  <a:txBody>
                    <a:bodyPr/>
                    <a:lstStyle/>
                    <a:p>
                      <a:pPr algn="l" fontAlgn="b">
                        <a:buNone/>
                      </a:pPr>
                      <a:r>
                        <a:rPr lang="en-US" sz="2100" b="0" i="0" u="sng" strike="noStrike" dirty="0">
                          <a:solidFill>
                            <a:srgbClr val="FFFFFF"/>
                          </a:solidFill>
                          <a:effectLst/>
                          <a:latin typeface="Aptos Narrow" panose="020B0004020202020204" pitchFamily="34" charset="0"/>
                        </a:rPr>
                        <a:t> </a:t>
                      </a:r>
                      <a:endParaRPr lang="en-IN" sz="3500" b="0" i="0" u="none" strike="noStrike" dirty="0">
                        <a:effectLst/>
                        <a:latin typeface="Arial" panose="020B0604020202020204" pitchFamily="34" charset="0"/>
                      </a:endParaRPr>
                    </a:p>
                  </a:txBody>
                  <a:tcPr marL="18604" marR="18604" marT="18604" marB="0" anchor="b">
                    <a:lnL>
                      <a:noFill/>
                    </a:lnL>
                    <a:lnR>
                      <a:noFill/>
                    </a:lnR>
                    <a:lnT>
                      <a:noFill/>
                    </a:lnT>
                    <a:lnB>
                      <a:noFill/>
                    </a:lnB>
                    <a:solidFill>
                      <a:srgbClr val="196B24"/>
                    </a:solidFill>
                  </a:tcPr>
                </a:tc>
                <a:extLst>
                  <a:ext uri="{0D108BD9-81ED-4DB2-BD59-A6C34878D82A}">
                    <a16:rowId xmlns:a16="http://schemas.microsoft.com/office/drawing/2014/main" val="1555117056"/>
                  </a:ext>
                </a:extLst>
              </a:tr>
              <a:tr h="733000">
                <a:tc>
                  <a:txBody>
                    <a:bodyPr/>
                    <a:lstStyle/>
                    <a:p>
                      <a:pPr algn="l" fontAlgn="b">
                        <a:buNone/>
                      </a:pPr>
                      <a:endParaRPr lang="en-US"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endParaRPr lang="en-US"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endParaRPr lang="en-US"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extLst>
                  <a:ext uri="{0D108BD9-81ED-4DB2-BD59-A6C34878D82A}">
                    <a16:rowId xmlns:a16="http://schemas.microsoft.com/office/drawing/2014/main" val="87373620"/>
                  </a:ext>
                </a:extLst>
              </a:tr>
              <a:tr h="417475">
                <a:tc>
                  <a:txBody>
                    <a:bodyPr/>
                    <a:lstStyle/>
                    <a:p>
                      <a:pPr algn="l" fontAlgn="b">
                        <a:buNone/>
                      </a:pPr>
                      <a:r>
                        <a:rPr lang="en-IN" sz="2100" b="0" i="0" u="none" strike="noStrike">
                          <a:solidFill>
                            <a:srgbClr val="006100"/>
                          </a:solidFill>
                          <a:effectLst/>
                          <a:latin typeface="Aptos Narrow" panose="020B0004020202020204" pitchFamily="34" charset="0"/>
                        </a:rPr>
                        <a:t>Columns</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solidFill>
                      <a:srgbClr val="C6EFCE"/>
                    </a:solidFill>
                  </a:tcPr>
                </a:tc>
                <a:tc>
                  <a:txBody>
                    <a:bodyPr/>
                    <a:lstStyle/>
                    <a:p>
                      <a:pPr algn="l" fontAlgn="b">
                        <a:buNone/>
                      </a:pPr>
                      <a:r>
                        <a:rPr lang="en-IN" sz="2100" b="0" i="0" u="none" strike="noStrike">
                          <a:solidFill>
                            <a:srgbClr val="006100"/>
                          </a:solidFill>
                          <a:effectLst/>
                          <a:latin typeface="Aptos Narrow" panose="020B0004020202020204" pitchFamily="34" charset="0"/>
                        </a:rPr>
                        <a:t>Data Type</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solidFill>
                      <a:srgbClr val="C6EFCE"/>
                    </a:solidFill>
                  </a:tcPr>
                </a:tc>
                <a:tc>
                  <a:txBody>
                    <a:bodyPr/>
                    <a:lstStyle/>
                    <a:p>
                      <a:pPr algn="l" fontAlgn="b">
                        <a:buNone/>
                      </a:pPr>
                      <a:r>
                        <a:rPr lang="en-IN" sz="2100" b="0" i="0" u="none" strike="noStrike">
                          <a:solidFill>
                            <a:srgbClr val="006100"/>
                          </a:solidFill>
                          <a:effectLst/>
                          <a:latin typeface="Aptos Narrow" panose="020B0004020202020204" pitchFamily="34" charset="0"/>
                        </a:rPr>
                        <a:t>Description</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solidFill>
                      <a:srgbClr val="C6EFCE"/>
                    </a:solidFill>
                  </a:tcPr>
                </a:tc>
                <a:extLst>
                  <a:ext uri="{0D108BD9-81ED-4DB2-BD59-A6C34878D82A}">
                    <a16:rowId xmlns:a16="http://schemas.microsoft.com/office/drawing/2014/main" val="2322720560"/>
                  </a:ext>
                </a:extLst>
              </a:tr>
              <a:tr h="744907">
                <a:tc>
                  <a:txBody>
                    <a:bodyPr/>
                    <a:lstStyle/>
                    <a:p>
                      <a:pPr algn="l" fontAlgn="b">
                        <a:buNone/>
                      </a:pPr>
                      <a:r>
                        <a:rPr lang="en-IN" sz="2100" b="0" i="0" u="none" strike="noStrike">
                          <a:solidFill>
                            <a:srgbClr val="000000"/>
                          </a:solidFill>
                          <a:effectLst/>
                          <a:latin typeface="Aptos Narrow" panose="020B0004020202020204" pitchFamily="34" charset="0"/>
                        </a:rPr>
                        <a:t>CategoryID</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Number</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Unique identifier for Categories table</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extLst>
                  <a:ext uri="{0D108BD9-81ED-4DB2-BD59-A6C34878D82A}">
                    <a16:rowId xmlns:a16="http://schemas.microsoft.com/office/drawing/2014/main" val="2758653743"/>
                  </a:ext>
                </a:extLst>
              </a:tr>
              <a:tr h="417475">
                <a:tc>
                  <a:txBody>
                    <a:bodyPr/>
                    <a:lstStyle/>
                    <a:p>
                      <a:pPr algn="l" fontAlgn="b">
                        <a:buNone/>
                      </a:pPr>
                      <a:r>
                        <a:rPr lang="en-IN" sz="2100" b="0" i="0" u="none" strike="noStrike">
                          <a:solidFill>
                            <a:srgbClr val="000000"/>
                          </a:solidFill>
                          <a:effectLst/>
                          <a:latin typeface="Aptos Narrow" panose="020B0004020202020204" pitchFamily="34" charset="0"/>
                        </a:rPr>
                        <a:t>CategoryName</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Text</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Name of the category</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extLst>
                  <a:ext uri="{0D108BD9-81ED-4DB2-BD59-A6C34878D82A}">
                    <a16:rowId xmlns:a16="http://schemas.microsoft.com/office/drawing/2014/main" val="721393272"/>
                  </a:ext>
                </a:extLst>
              </a:tr>
              <a:tr h="417475">
                <a:tc>
                  <a:txBody>
                    <a:bodyPr/>
                    <a:lstStyle/>
                    <a:p>
                      <a:pPr algn="l" fontAlgn="b">
                        <a:buNone/>
                      </a:pPr>
                      <a:r>
                        <a:rPr lang="en-IN" sz="2100" b="0" i="0" u="none" strike="noStrike">
                          <a:solidFill>
                            <a:srgbClr val="000000"/>
                          </a:solidFill>
                          <a:effectLst/>
                          <a:latin typeface="Aptos Narrow" panose="020B0004020202020204" pitchFamily="34" charset="0"/>
                        </a:rPr>
                        <a:t>Description</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Text</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Description of the category</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extLst>
                  <a:ext uri="{0D108BD9-81ED-4DB2-BD59-A6C34878D82A}">
                    <a16:rowId xmlns:a16="http://schemas.microsoft.com/office/drawing/2014/main" val="188021558"/>
                  </a:ext>
                </a:extLst>
              </a:tr>
              <a:tr h="417475">
                <a:tc>
                  <a:txBody>
                    <a:bodyPr/>
                    <a:lstStyle/>
                    <a:p>
                      <a:pPr algn="l" fontAlgn="b">
                        <a:buNone/>
                      </a:pPr>
                      <a:r>
                        <a:rPr lang="en-IN" sz="2100" b="0" i="0" u="none" strike="noStrike">
                          <a:solidFill>
                            <a:srgbClr val="000000"/>
                          </a:solidFill>
                          <a:effectLst/>
                          <a:latin typeface="Aptos Narrow" panose="020B0004020202020204" pitchFamily="34" charset="0"/>
                        </a:rPr>
                        <a:t>Picture</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General</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Picture of the category</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extLst>
                  <a:ext uri="{0D108BD9-81ED-4DB2-BD59-A6C34878D82A}">
                    <a16:rowId xmlns:a16="http://schemas.microsoft.com/office/drawing/2014/main" val="3369107096"/>
                  </a:ext>
                </a:extLst>
              </a:tr>
              <a:tr h="744907">
                <a:tc>
                  <a:txBody>
                    <a:bodyPr/>
                    <a:lstStyle/>
                    <a:p>
                      <a:pPr algn="l" fontAlgn="b">
                        <a:buNone/>
                      </a:pPr>
                      <a:r>
                        <a:rPr lang="en-IN" sz="2100" b="0" i="0" u="none" strike="noStrike">
                          <a:solidFill>
                            <a:srgbClr val="000000"/>
                          </a:solidFill>
                          <a:effectLst/>
                          <a:latin typeface="Aptos Narrow" panose="020B0004020202020204" pitchFamily="34" charset="0"/>
                        </a:rPr>
                        <a:t>Total Products</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Number</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US" sz="2100" b="0" i="0" u="none" strike="noStrike">
                          <a:solidFill>
                            <a:srgbClr val="000000"/>
                          </a:solidFill>
                          <a:effectLst/>
                          <a:latin typeface="Aptos Narrow" panose="020B0004020202020204" pitchFamily="34" charset="0"/>
                        </a:rPr>
                        <a:t>Custom Column -&gt; Total number of products in the category</a:t>
                      </a:r>
                      <a:endParaRPr lang="en-US"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extLst>
                  <a:ext uri="{0D108BD9-81ED-4DB2-BD59-A6C34878D82A}">
                    <a16:rowId xmlns:a16="http://schemas.microsoft.com/office/drawing/2014/main" val="2810853068"/>
                  </a:ext>
                </a:extLst>
              </a:tr>
              <a:tr h="744907">
                <a:tc>
                  <a:txBody>
                    <a:bodyPr/>
                    <a:lstStyle/>
                    <a:p>
                      <a:pPr algn="l" fontAlgn="b">
                        <a:buNone/>
                      </a:pPr>
                      <a:r>
                        <a:rPr lang="en-IN" sz="2100" b="0" i="0" u="none" strike="noStrike">
                          <a:solidFill>
                            <a:srgbClr val="000000"/>
                          </a:solidFill>
                          <a:effectLst/>
                          <a:latin typeface="Aptos Narrow" panose="020B0004020202020204" pitchFamily="34" charset="0"/>
                        </a:rPr>
                        <a:t>Total cost</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IN" sz="2100" b="0" i="0" u="none" strike="noStrike">
                          <a:solidFill>
                            <a:srgbClr val="000000"/>
                          </a:solidFill>
                          <a:effectLst/>
                          <a:latin typeface="Aptos Narrow" panose="020B0004020202020204" pitchFamily="34" charset="0"/>
                        </a:rPr>
                        <a:t>Currency</a:t>
                      </a:r>
                      <a:endParaRPr lang="en-IN" sz="3500" b="0" i="0" u="none" strike="noStrike">
                        <a:effectLst/>
                        <a:latin typeface="Arial" panose="020B0604020202020204" pitchFamily="34" charset="0"/>
                      </a:endParaRPr>
                    </a:p>
                  </a:txBody>
                  <a:tcPr marL="18604" marR="18604" marT="18604" marB="0" anchor="b">
                    <a:lnL>
                      <a:noFill/>
                    </a:lnL>
                    <a:lnR>
                      <a:noFill/>
                    </a:lnR>
                    <a:lnT>
                      <a:noFill/>
                    </a:lnT>
                    <a:lnB>
                      <a:noFill/>
                    </a:lnB>
                    <a:noFill/>
                  </a:tcPr>
                </a:tc>
                <a:tc>
                  <a:txBody>
                    <a:bodyPr/>
                    <a:lstStyle/>
                    <a:p>
                      <a:pPr algn="l" fontAlgn="b">
                        <a:buNone/>
                      </a:pPr>
                      <a:r>
                        <a:rPr lang="en-US" sz="2100" b="0" i="0" u="none" strike="noStrike" dirty="0">
                          <a:solidFill>
                            <a:srgbClr val="000000"/>
                          </a:solidFill>
                          <a:effectLst/>
                          <a:latin typeface="Aptos Narrow" panose="020B0004020202020204" pitchFamily="34" charset="0"/>
                        </a:rPr>
                        <a:t>Custom Column -&gt; Total cost of products in each category</a:t>
                      </a:r>
                      <a:endParaRPr lang="en-US" sz="3500" b="0" i="0" u="none" strike="noStrike" dirty="0">
                        <a:effectLst/>
                        <a:latin typeface="Arial" panose="020B0604020202020204" pitchFamily="34" charset="0"/>
                      </a:endParaRPr>
                    </a:p>
                  </a:txBody>
                  <a:tcPr marL="18604" marR="18604" marT="18604" marB="0" anchor="b">
                    <a:lnL>
                      <a:noFill/>
                    </a:lnL>
                    <a:lnR>
                      <a:noFill/>
                    </a:lnR>
                    <a:lnT>
                      <a:noFill/>
                    </a:lnT>
                    <a:lnB>
                      <a:noFill/>
                    </a:lnB>
                    <a:noFill/>
                  </a:tcPr>
                </a:tc>
                <a:extLst>
                  <a:ext uri="{0D108BD9-81ED-4DB2-BD59-A6C34878D82A}">
                    <a16:rowId xmlns:a16="http://schemas.microsoft.com/office/drawing/2014/main" val="428780693"/>
                  </a:ext>
                </a:extLst>
              </a:tr>
            </a:tbl>
          </a:graphicData>
        </a:graphic>
      </p:graphicFrame>
    </p:spTree>
    <p:extLst>
      <p:ext uri="{BB962C8B-B14F-4D97-AF65-F5344CB8AC3E}">
        <p14:creationId xmlns:p14="http://schemas.microsoft.com/office/powerpoint/2010/main" val="2248829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78989-AE9A-10C5-3BEA-1E494A264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66FD0-4B9E-0B2D-BAEB-980F20CF9A69}"/>
              </a:ext>
            </a:extLst>
          </p:cNvPr>
          <p:cNvSpPr>
            <a:spLocks noGrp="1"/>
          </p:cNvSpPr>
          <p:nvPr>
            <p:ph type="title"/>
          </p:nvPr>
        </p:nvSpPr>
        <p:spPr/>
        <p:txBody>
          <a:bodyPr/>
          <a:lstStyle/>
          <a:p>
            <a:r>
              <a:rPr lang="en-US" dirty="0"/>
              <a:t>ER diagram</a:t>
            </a:r>
            <a:endParaRPr lang="en-IN" dirty="0"/>
          </a:p>
        </p:txBody>
      </p:sp>
      <p:pic>
        <p:nvPicPr>
          <p:cNvPr id="5" name="Content Placeholder 4">
            <a:extLst>
              <a:ext uri="{FF2B5EF4-FFF2-40B4-BE49-F238E27FC236}">
                <a16:creationId xmlns:a16="http://schemas.microsoft.com/office/drawing/2014/main" id="{884A3DF7-BEAF-FA7E-7BCE-A998572422BC}"/>
              </a:ext>
            </a:extLst>
          </p:cNvPr>
          <p:cNvPicPr>
            <a:picLocks noGrp="1" noChangeAspect="1"/>
          </p:cNvPicPr>
          <p:nvPr>
            <p:ph idx="1"/>
          </p:nvPr>
        </p:nvPicPr>
        <p:blipFill>
          <a:blip r:embed="rId2"/>
          <a:stretch>
            <a:fillRect/>
          </a:stretch>
        </p:blipFill>
        <p:spPr>
          <a:xfrm>
            <a:off x="1607249" y="1264554"/>
            <a:ext cx="10254326" cy="4969335"/>
          </a:xfrm>
          <a:prstGeom prst="rect">
            <a:avLst/>
          </a:prstGeom>
        </p:spPr>
      </p:pic>
    </p:spTree>
    <p:extLst>
      <p:ext uri="{BB962C8B-B14F-4D97-AF65-F5344CB8AC3E}">
        <p14:creationId xmlns:p14="http://schemas.microsoft.com/office/powerpoint/2010/main" val="1885239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6143338F-4EAE-DE45-9AAF-8078C817373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ABBFF0-32DE-82EF-DD8F-310AFE27A3F0}"/>
              </a:ext>
            </a:extLst>
          </p:cNvPr>
          <p:cNvSpPr>
            <a:spLocks noGrp="1"/>
          </p:cNvSpPr>
          <p:nvPr>
            <p:ph type="title"/>
          </p:nvPr>
        </p:nvSpPr>
        <p:spPr>
          <a:xfrm>
            <a:off x="649224" y="645106"/>
            <a:ext cx="3650279" cy="1259894"/>
          </a:xfrm>
        </p:spPr>
        <p:txBody>
          <a:bodyPr>
            <a:normAutofit/>
          </a:bodyPr>
          <a:lstStyle/>
          <a:p>
            <a:r>
              <a:rPr lang="en-US" b="1" dirty="0"/>
              <a:t>Problem Statement 1</a:t>
            </a:r>
            <a:endParaRPr lang="en-IN" b="1" dirty="0"/>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13B4A64F-2035-B876-B450-37EF7C03C095}"/>
              </a:ext>
            </a:extLst>
          </p:cNvPr>
          <p:cNvSpPr>
            <a:spLocks noGrp="1"/>
          </p:cNvSpPr>
          <p:nvPr>
            <p:ph idx="1"/>
          </p:nvPr>
        </p:nvSpPr>
        <p:spPr>
          <a:xfrm>
            <a:off x="649225" y="2133600"/>
            <a:ext cx="3650278" cy="3759253"/>
          </a:xfrm>
        </p:spPr>
        <p:txBody>
          <a:bodyPr>
            <a:normAutofit fontScale="92500" lnSpcReduction="10000"/>
          </a:bodyPr>
          <a:lstStyle/>
          <a:p>
            <a:pPr marL="0" indent="0">
              <a:buNone/>
            </a:pPr>
            <a:r>
              <a:rPr lang="en-US" dirty="0"/>
              <a:t>Which customers contribute the most revenue and how frequently do they place orders?</a:t>
            </a:r>
          </a:p>
          <a:p>
            <a:pPr marL="0" indent="0">
              <a:buNone/>
            </a:pPr>
            <a:endParaRPr lang="en-US" dirty="0"/>
          </a:p>
          <a:p>
            <a:pPr marL="0" indent="0">
              <a:buNone/>
            </a:pPr>
            <a:r>
              <a:rPr lang="en-US" b="1" dirty="0"/>
              <a:t>Insights</a:t>
            </a:r>
            <a:endParaRPr lang="en-US" dirty="0"/>
          </a:p>
          <a:p>
            <a:r>
              <a:rPr lang="en-US" dirty="0"/>
              <a:t>Average orders per customer ≈ </a:t>
            </a:r>
            <a:r>
              <a:rPr lang="en-US" b="1" dirty="0"/>
              <a:t>9</a:t>
            </a:r>
            <a:endParaRPr lang="en-US" dirty="0"/>
          </a:p>
          <a:p>
            <a:r>
              <a:rPr lang="en-US" dirty="0"/>
              <a:t>A small group of customers generates </a:t>
            </a:r>
            <a:r>
              <a:rPr lang="en-US" b="1" dirty="0"/>
              <a:t>significant revenue share</a:t>
            </a:r>
            <a:r>
              <a:rPr lang="en-US" dirty="0"/>
              <a:t>.</a:t>
            </a:r>
          </a:p>
          <a:p>
            <a:r>
              <a:rPr lang="en-US" dirty="0"/>
              <a:t>Indicates </a:t>
            </a:r>
            <a:r>
              <a:rPr lang="en-US" b="1" dirty="0"/>
              <a:t>strong repeat purchase behavior</a:t>
            </a:r>
            <a:r>
              <a:rPr lang="en-US" dirty="0"/>
              <a:t>.</a:t>
            </a:r>
          </a:p>
          <a:p>
            <a:pPr marL="0" indent="0">
              <a:buNone/>
            </a:pPr>
            <a:endParaRPr lang="en-US" dirty="0"/>
          </a:p>
        </p:txBody>
      </p:sp>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3">
            <a:extLst>
              <a:ext uri="{FF2B5EF4-FFF2-40B4-BE49-F238E27FC236}">
                <a16:creationId xmlns:a16="http://schemas.microsoft.com/office/drawing/2014/main" id="{9E169CDC-A599-50EF-E79A-FC2A16D829B2}"/>
              </a:ext>
            </a:extLst>
          </p:cNvPr>
          <p:cNvGraphicFramePr>
            <a:graphicFrameLocks/>
          </p:cNvGraphicFramePr>
          <p:nvPr/>
        </p:nvGraphicFramePr>
        <p:xfrm>
          <a:off x="5043982" y="640080"/>
          <a:ext cx="6104700" cy="5252784"/>
        </p:xfrm>
        <a:graphic>
          <a:graphicData uri="http://schemas.openxmlformats.org/drawingml/2006/table">
            <a:tbl>
              <a:tblPr/>
              <a:tblGrid>
                <a:gridCol w="2006984">
                  <a:extLst>
                    <a:ext uri="{9D8B030D-6E8A-4147-A177-3AD203B41FA5}">
                      <a16:colId xmlns:a16="http://schemas.microsoft.com/office/drawing/2014/main" val="1349935499"/>
                    </a:ext>
                  </a:extLst>
                </a:gridCol>
                <a:gridCol w="1674979">
                  <a:extLst>
                    <a:ext uri="{9D8B030D-6E8A-4147-A177-3AD203B41FA5}">
                      <a16:colId xmlns:a16="http://schemas.microsoft.com/office/drawing/2014/main" val="1104417216"/>
                    </a:ext>
                  </a:extLst>
                </a:gridCol>
                <a:gridCol w="2422737">
                  <a:extLst>
                    <a:ext uri="{9D8B030D-6E8A-4147-A177-3AD203B41FA5}">
                      <a16:colId xmlns:a16="http://schemas.microsoft.com/office/drawing/2014/main" val="4286069263"/>
                    </a:ext>
                  </a:extLst>
                </a:gridCol>
              </a:tblGrid>
              <a:tr h="437732">
                <a:tc>
                  <a:txBody>
                    <a:bodyPr/>
                    <a:lstStyle/>
                    <a:p>
                      <a:pPr algn="l" fontAlgn="b">
                        <a:buNone/>
                      </a:pPr>
                      <a:r>
                        <a:rPr lang="en-IN" sz="2300" b="1" i="0" u="none" strike="noStrike">
                          <a:solidFill>
                            <a:srgbClr val="000000"/>
                          </a:solidFill>
                          <a:effectLst/>
                          <a:latin typeface="Aptos Narrow" panose="020B0004020202020204" pitchFamily="34" charset="0"/>
                        </a:rPr>
                        <a:t>Customer ID</a:t>
                      </a:r>
                      <a:endParaRPr lang="en-IN" sz="3700" b="0" i="0" u="none" strike="noStrike">
                        <a:effectLst/>
                        <a:latin typeface="Arial" panose="020B0604020202020204" pitchFamily="34" charset="0"/>
                      </a:endParaRPr>
                    </a:p>
                  </a:txBody>
                  <a:tcPr marL="19507" marR="19507" marT="19507"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buNone/>
                      </a:pPr>
                      <a:r>
                        <a:rPr lang="en-IN" sz="2300" b="1" i="0" u="none" strike="noStrike">
                          <a:solidFill>
                            <a:srgbClr val="000000"/>
                          </a:solidFill>
                          <a:effectLst/>
                          <a:latin typeface="Aptos Narrow" panose="020B0004020202020204" pitchFamily="34" charset="0"/>
                        </a:rPr>
                        <a:t>Total orders</a:t>
                      </a:r>
                      <a:endParaRPr lang="en-IN" sz="3700" b="0" i="0" u="none" strike="noStrike">
                        <a:effectLst/>
                        <a:latin typeface="Arial" panose="020B0604020202020204" pitchFamily="34" charset="0"/>
                      </a:endParaRPr>
                    </a:p>
                  </a:txBody>
                  <a:tcPr marL="19507" marR="19507" marT="19507"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buNone/>
                      </a:pPr>
                      <a:r>
                        <a:rPr lang="en-IN" sz="2300" b="1" i="0" u="none" strike="noStrike">
                          <a:solidFill>
                            <a:srgbClr val="000000"/>
                          </a:solidFill>
                          <a:effectLst/>
                          <a:latin typeface="Aptos Narrow" panose="020B0004020202020204" pitchFamily="34" charset="0"/>
                        </a:rPr>
                        <a:t>Total Revenue</a:t>
                      </a:r>
                      <a:endParaRPr lang="en-IN" sz="3700" b="0" i="0" u="none" strike="noStrike">
                        <a:effectLst/>
                        <a:latin typeface="Arial" panose="020B0604020202020204" pitchFamily="34" charset="0"/>
                      </a:endParaRPr>
                    </a:p>
                  </a:txBody>
                  <a:tcPr marL="19507" marR="19507" marT="19507"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4158894299"/>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SAVEA</a:t>
                      </a:r>
                      <a:endParaRPr lang="en-IN" sz="3700" b="0" i="0" u="none" strike="noStrike">
                        <a:effectLst/>
                        <a:latin typeface="Arial" panose="020B0604020202020204" pitchFamily="34" charset="0"/>
                      </a:endParaRPr>
                    </a:p>
                  </a:txBody>
                  <a:tcPr marL="19507" marR="19507" marT="19507"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31</a:t>
                      </a:r>
                      <a:endParaRPr lang="en-IN" sz="3700" b="0" i="0" u="none" strike="noStrike">
                        <a:effectLst/>
                        <a:latin typeface="Arial" panose="020B0604020202020204" pitchFamily="34" charset="0"/>
                      </a:endParaRPr>
                    </a:p>
                  </a:txBody>
                  <a:tcPr marL="19507" marR="19507" marT="19507"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1,08,703.29 </a:t>
                      </a:r>
                      <a:endParaRPr lang="en-IN" sz="3700" b="0" i="0" u="none" strike="noStrike">
                        <a:effectLst/>
                        <a:latin typeface="Arial" panose="020B0604020202020204" pitchFamily="34" charset="0"/>
                      </a:endParaRPr>
                    </a:p>
                  </a:txBody>
                  <a:tcPr marL="19507" marR="19507" marT="19507"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3636120803"/>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RATTC</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18</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57,317.50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3716863285"/>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QUICK</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28</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1,14,693.87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2376056009"/>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MEREP</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13</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32,827.90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1991696989"/>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KOENE</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14</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32,040.65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3900970322"/>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HUNGO</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19</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52,623.64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3683917440"/>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HANAR</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14</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33,591.61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3574741163"/>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FRANK</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15</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29,477.64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1029263750"/>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FOLKO</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19</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30,345.03 </a:t>
                      </a:r>
                      <a:endParaRPr lang="en-IN" sz="3700" b="0" i="0" u="none" strike="noStrike">
                        <a:effectLst/>
                        <a:latin typeface="Arial" panose="020B0604020202020204" pitchFamily="34" charset="0"/>
                      </a:endParaRPr>
                    </a:p>
                  </a:txBody>
                  <a:tcPr marL="19507" marR="19507" marT="19507" marB="0" anchor="b">
                    <a:lnL>
                      <a:noFill/>
                    </a:lnL>
                    <a:lnR>
                      <a:noFill/>
                    </a:lnR>
                    <a:lnT>
                      <a:noFill/>
                    </a:lnT>
                    <a:lnB>
                      <a:noFill/>
                    </a:lnB>
                    <a:noFill/>
                  </a:tcPr>
                </a:tc>
                <a:extLst>
                  <a:ext uri="{0D108BD9-81ED-4DB2-BD59-A6C34878D82A}">
                    <a16:rowId xmlns:a16="http://schemas.microsoft.com/office/drawing/2014/main" val="1783309352"/>
                  </a:ext>
                </a:extLst>
              </a:tr>
              <a:tr h="437732">
                <a:tc>
                  <a:txBody>
                    <a:bodyPr/>
                    <a:lstStyle/>
                    <a:p>
                      <a:pPr algn="l" fontAlgn="b">
                        <a:buNone/>
                      </a:pPr>
                      <a:r>
                        <a:rPr lang="en-IN" sz="2300" b="0" i="0" u="none" strike="noStrike">
                          <a:solidFill>
                            <a:srgbClr val="000000"/>
                          </a:solidFill>
                          <a:effectLst/>
                          <a:latin typeface="Aptos Narrow" panose="020B0004020202020204" pitchFamily="34" charset="0"/>
                        </a:rPr>
                        <a:t>ERNSH</a:t>
                      </a:r>
                      <a:endParaRPr lang="en-IN" sz="3700" b="0" i="0" u="none" strike="noStrike">
                        <a:effectLst/>
                        <a:latin typeface="Arial" panose="020B0604020202020204" pitchFamily="34" charset="0"/>
                      </a:endParaRPr>
                    </a:p>
                  </a:txBody>
                  <a:tcPr marL="19507" marR="19507" marT="19507"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r" fontAlgn="b">
                        <a:buNone/>
                      </a:pPr>
                      <a:r>
                        <a:rPr lang="en-IN" sz="2300" b="0" i="0" u="none" strike="noStrike">
                          <a:solidFill>
                            <a:srgbClr val="000000"/>
                          </a:solidFill>
                          <a:effectLst/>
                          <a:latin typeface="Aptos Narrow" panose="020B0004020202020204" pitchFamily="34" charset="0"/>
                        </a:rPr>
                        <a:t>30</a:t>
                      </a:r>
                      <a:endParaRPr lang="en-IN" sz="3700" b="0" i="0" u="none" strike="noStrike">
                        <a:effectLst/>
                        <a:latin typeface="Arial" panose="020B0604020202020204" pitchFamily="34" charset="0"/>
                      </a:endParaRPr>
                    </a:p>
                  </a:txBody>
                  <a:tcPr marL="19507" marR="19507" marT="19507"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buNone/>
                      </a:pPr>
                      <a:r>
                        <a:rPr lang="en-IN" sz="2300" b="0" i="0" u="none" strike="noStrike">
                          <a:solidFill>
                            <a:srgbClr val="000000"/>
                          </a:solidFill>
                          <a:effectLst/>
                          <a:latin typeface="Aptos Narrow" panose="020B0004020202020204" pitchFamily="34" charset="0"/>
                        </a:rPr>
                        <a:t> $          1,11,362.43 </a:t>
                      </a:r>
                      <a:endParaRPr lang="en-IN" sz="3700" b="0" i="0" u="none" strike="noStrike">
                        <a:effectLst/>
                        <a:latin typeface="Arial" panose="020B0604020202020204" pitchFamily="34" charset="0"/>
                      </a:endParaRPr>
                    </a:p>
                  </a:txBody>
                  <a:tcPr marL="19507" marR="19507" marT="19507"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241739624"/>
                  </a:ext>
                </a:extLst>
              </a:tr>
              <a:tr h="437732">
                <a:tc>
                  <a:txBody>
                    <a:bodyPr/>
                    <a:lstStyle/>
                    <a:p>
                      <a:pPr algn="l" fontAlgn="b">
                        <a:buNone/>
                      </a:pPr>
                      <a:r>
                        <a:rPr lang="en-IN" sz="2300" b="1" i="0" u="none" strike="noStrike">
                          <a:solidFill>
                            <a:srgbClr val="000000"/>
                          </a:solidFill>
                          <a:effectLst/>
                          <a:latin typeface="Aptos Narrow" panose="020B0004020202020204" pitchFamily="34" charset="0"/>
                        </a:rPr>
                        <a:t>Grand Total</a:t>
                      </a:r>
                      <a:endParaRPr lang="en-IN" sz="3700" b="0" i="0" u="none" strike="noStrike">
                        <a:effectLst/>
                        <a:latin typeface="Arial" panose="020B0604020202020204" pitchFamily="34" charset="0"/>
                      </a:endParaRPr>
                    </a:p>
                  </a:txBody>
                  <a:tcPr marL="19507" marR="19507" marT="19507"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buNone/>
                      </a:pPr>
                      <a:r>
                        <a:rPr lang="en-IN" sz="2300" b="1" i="0" u="none" strike="noStrike">
                          <a:solidFill>
                            <a:srgbClr val="000000"/>
                          </a:solidFill>
                          <a:effectLst/>
                          <a:latin typeface="Aptos Narrow" panose="020B0004020202020204" pitchFamily="34" charset="0"/>
                        </a:rPr>
                        <a:t>201</a:t>
                      </a:r>
                      <a:endParaRPr lang="en-IN" sz="3700" b="0" i="0" u="none" strike="noStrike">
                        <a:effectLst/>
                        <a:latin typeface="Arial" panose="020B0604020202020204" pitchFamily="34" charset="0"/>
                      </a:endParaRPr>
                    </a:p>
                  </a:txBody>
                  <a:tcPr marL="19507" marR="19507" marT="19507"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l" fontAlgn="b">
                        <a:buNone/>
                      </a:pPr>
                      <a:r>
                        <a:rPr lang="en-IN" sz="2300" b="1" i="0" u="none" strike="noStrike">
                          <a:solidFill>
                            <a:srgbClr val="000000"/>
                          </a:solidFill>
                          <a:effectLst/>
                          <a:latin typeface="Aptos Narrow" panose="020B0004020202020204" pitchFamily="34" charset="0"/>
                        </a:rPr>
                        <a:t> $          6,02,983.56 </a:t>
                      </a:r>
                      <a:endParaRPr lang="en-IN" sz="3700" b="0" i="0" u="none" strike="noStrike">
                        <a:effectLst/>
                        <a:latin typeface="Arial" panose="020B0604020202020204" pitchFamily="34" charset="0"/>
                      </a:endParaRPr>
                    </a:p>
                  </a:txBody>
                  <a:tcPr marL="19507" marR="19507" marT="19507"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3059466403"/>
                  </a:ext>
                </a:extLst>
              </a:tr>
            </a:tbl>
          </a:graphicData>
        </a:graphic>
      </p:graphicFrame>
    </p:spTree>
    <p:extLst>
      <p:ext uri="{BB962C8B-B14F-4D97-AF65-F5344CB8AC3E}">
        <p14:creationId xmlns:p14="http://schemas.microsoft.com/office/powerpoint/2010/main" val="4190485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A5CD386F-978A-3657-887D-A30549CB4CD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865EE5-705F-AD8E-8418-637641D9F4C4}"/>
              </a:ext>
            </a:extLst>
          </p:cNvPr>
          <p:cNvSpPr>
            <a:spLocks noGrp="1"/>
          </p:cNvSpPr>
          <p:nvPr>
            <p:ph type="title"/>
          </p:nvPr>
        </p:nvSpPr>
        <p:spPr>
          <a:xfrm>
            <a:off x="649224" y="645106"/>
            <a:ext cx="3877806" cy="1259894"/>
          </a:xfrm>
        </p:spPr>
        <p:txBody>
          <a:bodyPr>
            <a:normAutofit/>
          </a:bodyPr>
          <a:lstStyle/>
          <a:p>
            <a:r>
              <a:rPr lang="en-IN" b="1" dirty="0"/>
              <a:t>Problem Statement 2</a:t>
            </a:r>
          </a:p>
        </p:txBody>
      </p:sp>
      <p:sp>
        <p:nvSpPr>
          <p:cNvPr id="23" name="Rectangle 22">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1170FAB4-D0D0-2DC7-7C3C-4C875E88B8AB}"/>
              </a:ext>
            </a:extLst>
          </p:cNvPr>
          <p:cNvSpPr>
            <a:spLocks noGrp="1"/>
          </p:cNvSpPr>
          <p:nvPr>
            <p:ph idx="1"/>
          </p:nvPr>
        </p:nvSpPr>
        <p:spPr>
          <a:xfrm>
            <a:off x="649225" y="2133600"/>
            <a:ext cx="3877806" cy="3759253"/>
          </a:xfrm>
        </p:spPr>
        <p:txBody>
          <a:bodyPr>
            <a:normAutofit/>
          </a:bodyPr>
          <a:lstStyle/>
          <a:p>
            <a:pPr marL="0" indent="0">
              <a:buNone/>
            </a:pPr>
            <a:r>
              <a:rPr lang="en-US" dirty="0"/>
              <a:t>Which products and categories contribute the most to revenue?</a:t>
            </a:r>
          </a:p>
          <a:p>
            <a:pPr marL="0" indent="0">
              <a:buNone/>
            </a:pPr>
            <a:endParaRPr lang="en-US" dirty="0"/>
          </a:p>
          <a:p>
            <a:pPr marL="0" indent="0">
              <a:buNone/>
            </a:pPr>
            <a:r>
              <a:rPr lang="en-US" b="1" dirty="0"/>
              <a:t>Insights</a:t>
            </a:r>
            <a:endParaRPr lang="en-US" dirty="0"/>
          </a:p>
          <a:p>
            <a:r>
              <a:rPr lang="en-US" b="1" dirty="0"/>
              <a:t>Beverages</a:t>
            </a:r>
            <a:r>
              <a:rPr lang="en-US" dirty="0"/>
              <a:t> emerged as the </a:t>
            </a:r>
            <a:r>
              <a:rPr lang="en-US" b="1" dirty="0"/>
              <a:t>highest revenue category</a:t>
            </a:r>
            <a:r>
              <a:rPr lang="en-US" dirty="0"/>
              <a:t>.</a:t>
            </a:r>
          </a:p>
          <a:p>
            <a:r>
              <a:rPr lang="en-US" dirty="0"/>
              <a:t>A few </a:t>
            </a:r>
            <a:r>
              <a:rPr lang="en-US" b="1" dirty="0"/>
              <a:t>top-selling products dominate sales volume</a:t>
            </a:r>
            <a:r>
              <a:rPr lang="en-US" dirty="0"/>
              <a:t>.</a:t>
            </a:r>
          </a:p>
          <a:p>
            <a:r>
              <a:rPr lang="en-US" dirty="0"/>
              <a:t>These products should receive </a:t>
            </a:r>
            <a:r>
              <a:rPr lang="en-US" b="1" dirty="0"/>
              <a:t>inventory and promotion priority</a:t>
            </a:r>
            <a:r>
              <a:rPr lang="en-US" dirty="0"/>
              <a:t>.</a:t>
            </a:r>
          </a:p>
          <a:p>
            <a:endParaRPr lang="en-US" dirty="0"/>
          </a:p>
        </p:txBody>
      </p:sp>
      <p:sp>
        <p:nvSpPr>
          <p:cNvPr id="25"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E3F23984-238B-2003-BB79-4865602A4983}"/>
              </a:ext>
            </a:extLst>
          </p:cNvPr>
          <p:cNvGraphicFramePr>
            <a:graphicFrameLocks noGrp="1"/>
          </p:cNvGraphicFramePr>
          <p:nvPr>
            <p:extLst>
              <p:ext uri="{D42A27DB-BD31-4B8C-83A1-F6EECF244321}">
                <p14:modId xmlns:p14="http://schemas.microsoft.com/office/powerpoint/2010/main" val="52047270"/>
              </p:ext>
            </p:extLst>
          </p:nvPr>
        </p:nvGraphicFramePr>
        <p:xfrm>
          <a:off x="5276539" y="1050911"/>
          <a:ext cx="6267006" cy="4841940"/>
        </p:xfrm>
        <a:graphic>
          <a:graphicData uri="http://schemas.openxmlformats.org/drawingml/2006/table">
            <a:tbl>
              <a:tblPr/>
              <a:tblGrid>
                <a:gridCol w="3164620">
                  <a:extLst>
                    <a:ext uri="{9D8B030D-6E8A-4147-A177-3AD203B41FA5}">
                      <a16:colId xmlns:a16="http://schemas.microsoft.com/office/drawing/2014/main" val="315533584"/>
                    </a:ext>
                  </a:extLst>
                </a:gridCol>
                <a:gridCol w="3102386">
                  <a:extLst>
                    <a:ext uri="{9D8B030D-6E8A-4147-A177-3AD203B41FA5}">
                      <a16:colId xmlns:a16="http://schemas.microsoft.com/office/drawing/2014/main" val="3851660274"/>
                    </a:ext>
                  </a:extLst>
                </a:gridCol>
              </a:tblGrid>
              <a:tr h="484194">
                <a:tc>
                  <a:txBody>
                    <a:bodyPr/>
                    <a:lstStyle/>
                    <a:p>
                      <a:pPr algn="l" fontAlgn="b">
                        <a:buNone/>
                      </a:pPr>
                      <a:r>
                        <a:rPr lang="en-IN" sz="2300" b="1" i="0" u="none" strike="noStrike" dirty="0">
                          <a:solidFill>
                            <a:srgbClr val="000000"/>
                          </a:solidFill>
                          <a:effectLst/>
                          <a:latin typeface="Aptos Narrow" panose="020B0004020202020204" pitchFamily="34" charset="0"/>
                        </a:rPr>
                        <a:t>Category</a:t>
                      </a:r>
                      <a:endParaRPr lang="en-IN" sz="3700" b="0" i="0" u="none" strike="noStrike" dirty="0">
                        <a:effectLst/>
                        <a:latin typeface="Arial" panose="020B0604020202020204" pitchFamily="34" charset="0"/>
                      </a:endParaRPr>
                    </a:p>
                  </a:txBody>
                  <a:tcPr marL="19769" marR="19769" marT="19769"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tc>
                  <a:txBody>
                    <a:bodyPr/>
                    <a:lstStyle/>
                    <a:p>
                      <a:pPr algn="l" fontAlgn="b">
                        <a:buNone/>
                      </a:pPr>
                      <a:r>
                        <a:rPr lang="en-IN" sz="2300" b="1" i="0" u="none" strike="noStrike">
                          <a:solidFill>
                            <a:srgbClr val="000000"/>
                          </a:solidFill>
                          <a:effectLst/>
                          <a:latin typeface="Aptos Narrow" panose="020B0004020202020204" pitchFamily="34" charset="0"/>
                        </a:rPr>
                        <a:t>Total revenue</a:t>
                      </a:r>
                      <a:endParaRPr lang="en-IN" sz="3700" b="0" i="0" u="none" strike="noStrike">
                        <a:effectLst/>
                        <a:latin typeface="Arial" panose="020B0604020202020204" pitchFamily="34" charset="0"/>
                      </a:endParaRPr>
                    </a:p>
                  </a:txBody>
                  <a:tcPr marL="19769" marR="19769" marT="19769" marB="0" anchor="b">
                    <a:lnL>
                      <a:noFill/>
                    </a:lnL>
                    <a:lnR>
                      <a:noFill/>
                    </a:lnR>
                    <a:lnT>
                      <a:noFill/>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319486158"/>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Beverages</a:t>
                      </a:r>
                      <a:endParaRPr lang="en-IN" sz="3700" b="0" i="0" u="none" strike="noStrike">
                        <a:effectLst/>
                        <a:latin typeface="Arial" panose="020B0604020202020204" pitchFamily="34" charset="0"/>
                      </a:endParaRPr>
                    </a:p>
                  </a:txBody>
                  <a:tcPr marL="19769" marR="19769" marT="19769" marB="0" anchor="b">
                    <a:lnL>
                      <a:noFill/>
                    </a:lnL>
                    <a:lnR>
                      <a:noFill/>
                    </a:lnR>
                    <a:lnT w="6350" cap="flat" cmpd="sng" algn="ctr">
                      <a:solidFill>
                        <a:srgbClr val="44B3E1"/>
                      </a:solidFill>
                      <a:prstDash val="solid"/>
                      <a:round/>
                      <a:headEnd type="none" w="med" len="med"/>
                      <a:tailEnd type="none" w="med" len="med"/>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$2,88,694.65</a:t>
                      </a:r>
                      <a:endParaRPr lang="en-IN" sz="3700" b="0" i="0" u="none" strike="noStrike">
                        <a:effectLst/>
                        <a:latin typeface="Arial" panose="020B0604020202020204" pitchFamily="34" charset="0"/>
                      </a:endParaRPr>
                    </a:p>
                  </a:txBody>
                  <a:tcPr marL="19769" marR="19769" marT="19769" marB="0" anchor="b">
                    <a:lnL>
                      <a:noFill/>
                    </a:lnL>
                    <a:lnR>
                      <a:noFill/>
                    </a:lnR>
                    <a:lnT w="6350" cap="flat" cmpd="sng" algn="ctr">
                      <a:solidFill>
                        <a:srgbClr val="44B3E1"/>
                      </a:solidFill>
                      <a:prstDash val="solid"/>
                      <a:round/>
                      <a:headEnd type="none" w="med" len="med"/>
                      <a:tailEnd type="none" w="med" len="med"/>
                    </a:lnT>
                    <a:lnB>
                      <a:noFill/>
                    </a:lnB>
                    <a:noFill/>
                  </a:tcPr>
                </a:tc>
                <a:extLst>
                  <a:ext uri="{0D108BD9-81ED-4DB2-BD59-A6C34878D82A}">
                    <a16:rowId xmlns:a16="http://schemas.microsoft.com/office/drawing/2014/main" val="2175322386"/>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Dairy Products</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$2,51,147.60</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extLst>
                  <a:ext uri="{0D108BD9-81ED-4DB2-BD59-A6C34878D82A}">
                    <a16:rowId xmlns:a16="http://schemas.microsoft.com/office/drawing/2014/main" val="3772078800"/>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Confections</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$1,79,863.65</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extLst>
                  <a:ext uri="{0D108BD9-81ED-4DB2-BD59-A6C34878D82A}">
                    <a16:rowId xmlns:a16="http://schemas.microsoft.com/office/drawing/2014/main" val="294056759"/>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Meat/Poultry</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$1,74,622.55</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extLst>
                  <a:ext uri="{0D108BD9-81ED-4DB2-BD59-A6C34878D82A}">
                    <a16:rowId xmlns:a16="http://schemas.microsoft.com/office/drawing/2014/main" val="2332192385"/>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Seafood</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$1,37,989.31</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extLst>
                  <a:ext uri="{0D108BD9-81ED-4DB2-BD59-A6C34878D82A}">
                    <a16:rowId xmlns:a16="http://schemas.microsoft.com/office/drawing/2014/main" val="3498757661"/>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Condiments</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$1,13,992.56</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extLst>
                  <a:ext uri="{0D108BD9-81ED-4DB2-BD59-A6C34878D82A}">
                    <a16:rowId xmlns:a16="http://schemas.microsoft.com/office/drawing/2014/main" val="23660344"/>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Produce</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$1,05,745.71</a:t>
                      </a:r>
                      <a:endParaRPr lang="en-IN" sz="3700" b="0" i="0" u="none" strike="noStrike">
                        <a:effectLst/>
                        <a:latin typeface="Arial" panose="020B0604020202020204" pitchFamily="34" charset="0"/>
                      </a:endParaRPr>
                    </a:p>
                  </a:txBody>
                  <a:tcPr marL="19769" marR="19769" marT="19769" marB="0" anchor="b">
                    <a:lnL>
                      <a:noFill/>
                    </a:lnL>
                    <a:lnR>
                      <a:noFill/>
                    </a:lnR>
                    <a:lnT>
                      <a:noFill/>
                    </a:lnT>
                    <a:lnB>
                      <a:noFill/>
                    </a:lnB>
                    <a:noFill/>
                  </a:tcPr>
                </a:tc>
                <a:extLst>
                  <a:ext uri="{0D108BD9-81ED-4DB2-BD59-A6C34878D82A}">
                    <a16:rowId xmlns:a16="http://schemas.microsoft.com/office/drawing/2014/main" val="996674305"/>
                  </a:ext>
                </a:extLst>
              </a:tr>
              <a:tr h="484194">
                <a:tc>
                  <a:txBody>
                    <a:bodyPr/>
                    <a:lstStyle/>
                    <a:p>
                      <a:pPr algn="l" fontAlgn="b">
                        <a:buNone/>
                      </a:pPr>
                      <a:r>
                        <a:rPr lang="en-IN" sz="2300" b="0" i="0" u="none" strike="noStrike">
                          <a:solidFill>
                            <a:srgbClr val="000000"/>
                          </a:solidFill>
                          <a:effectLst/>
                          <a:latin typeface="Aptos Narrow" panose="020B0004020202020204" pitchFamily="34" charset="0"/>
                        </a:rPr>
                        <a:t>Grains/Cereals</a:t>
                      </a:r>
                      <a:endParaRPr lang="en-IN" sz="3700" b="0" i="0" u="none" strike="noStrike">
                        <a:effectLst/>
                        <a:latin typeface="Arial" panose="020B0604020202020204" pitchFamily="34" charset="0"/>
                      </a:endParaRPr>
                    </a:p>
                  </a:txBody>
                  <a:tcPr marL="19769" marR="19769" marT="19769"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r" fontAlgn="b">
                        <a:buNone/>
                      </a:pPr>
                      <a:r>
                        <a:rPr lang="en-IN" sz="2300" b="0" i="0" u="none" strike="noStrike">
                          <a:solidFill>
                            <a:srgbClr val="000000"/>
                          </a:solidFill>
                          <a:effectLst/>
                          <a:latin typeface="Aptos Narrow" panose="020B0004020202020204" pitchFamily="34" charset="0"/>
                        </a:rPr>
                        <a:t>$1,01,646.94</a:t>
                      </a:r>
                      <a:endParaRPr lang="en-IN" sz="3700" b="0" i="0" u="none" strike="noStrike">
                        <a:effectLst/>
                        <a:latin typeface="Arial" panose="020B0604020202020204" pitchFamily="34" charset="0"/>
                      </a:endParaRPr>
                    </a:p>
                  </a:txBody>
                  <a:tcPr marL="19769" marR="19769" marT="19769"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2170541581"/>
                  </a:ext>
                </a:extLst>
              </a:tr>
              <a:tr h="484194">
                <a:tc>
                  <a:txBody>
                    <a:bodyPr/>
                    <a:lstStyle/>
                    <a:p>
                      <a:pPr algn="l" fontAlgn="b">
                        <a:buNone/>
                      </a:pPr>
                      <a:r>
                        <a:rPr lang="en-IN" sz="2300" b="1" i="0" u="none" strike="noStrike">
                          <a:solidFill>
                            <a:srgbClr val="000000"/>
                          </a:solidFill>
                          <a:effectLst/>
                          <a:latin typeface="Aptos Narrow" panose="020B0004020202020204" pitchFamily="34" charset="0"/>
                        </a:rPr>
                        <a:t>Grand Total</a:t>
                      </a:r>
                      <a:endParaRPr lang="en-IN" sz="3700" b="0" i="0" u="none" strike="noStrike">
                        <a:effectLst/>
                        <a:latin typeface="Arial" panose="020B0604020202020204" pitchFamily="34" charset="0"/>
                      </a:endParaRPr>
                    </a:p>
                  </a:txBody>
                  <a:tcPr marL="19769" marR="19769" marT="19769"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tc>
                  <a:txBody>
                    <a:bodyPr/>
                    <a:lstStyle/>
                    <a:p>
                      <a:pPr algn="r" fontAlgn="b">
                        <a:buNone/>
                      </a:pPr>
                      <a:r>
                        <a:rPr lang="en-IN" sz="2300" b="1" i="0" u="none" strike="noStrike" dirty="0">
                          <a:solidFill>
                            <a:srgbClr val="000000"/>
                          </a:solidFill>
                          <a:effectLst/>
                          <a:latin typeface="Aptos Narrow" panose="020B0004020202020204" pitchFamily="34" charset="0"/>
                        </a:rPr>
                        <a:t>$13,53,702.97</a:t>
                      </a:r>
                      <a:endParaRPr lang="en-IN" sz="3700" b="0" i="0" u="none" strike="noStrike" dirty="0">
                        <a:effectLst/>
                        <a:latin typeface="Arial" panose="020B0604020202020204" pitchFamily="34" charset="0"/>
                      </a:endParaRPr>
                    </a:p>
                  </a:txBody>
                  <a:tcPr marL="19769" marR="19769" marT="19769" marB="0" anchor="b">
                    <a:lnL>
                      <a:noFill/>
                    </a:lnL>
                    <a:lnR>
                      <a:noFill/>
                    </a:lnR>
                    <a:lnT w="6350" cap="flat" cmpd="sng" algn="ctr">
                      <a:solidFill>
                        <a:srgbClr val="44B3E1"/>
                      </a:solidFill>
                      <a:prstDash val="solid"/>
                      <a:round/>
                      <a:headEnd type="none" w="med" len="med"/>
                      <a:tailEnd type="none" w="med" len="med"/>
                    </a:lnT>
                    <a:lnB>
                      <a:noFill/>
                    </a:lnB>
                    <a:solidFill>
                      <a:srgbClr val="C0E6F5"/>
                    </a:solidFill>
                  </a:tcPr>
                </a:tc>
                <a:extLst>
                  <a:ext uri="{0D108BD9-81ED-4DB2-BD59-A6C34878D82A}">
                    <a16:rowId xmlns:a16="http://schemas.microsoft.com/office/drawing/2014/main" val="4086190627"/>
                  </a:ext>
                </a:extLst>
              </a:tr>
            </a:tbl>
          </a:graphicData>
        </a:graphic>
      </p:graphicFrame>
    </p:spTree>
    <p:extLst>
      <p:ext uri="{BB962C8B-B14F-4D97-AF65-F5344CB8AC3E}">
        <p14:creationId xmlns:p14="http://schemas.microsoft.com/office/powerpoint/2010/main" val="1674921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87E0DE37-85EE-23CF-3BA4-EDB5E8D822D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1FBD03-1618-E23E-2443-A8C08BAF4021}"/>
              </a:ext>
            </a:extLst>
          </p:cNvPr>
          <p:cNvSpPr>
            <a:spLocks noGrp="1"/>
          </p:cNvSpPr>
          <p:nvPr>
            <p:ph type="title"/>
          </p:nvPr>
        </p:nvSpPr>
        <p:spPr>
          <a:xfrm>
            <a:off x="649224" y="645106"/>
            <a:ext cx="3650279" cy="1259894"/>
          </a:xfrm>
        </p:spPr>
        <p:txBody>
          <a:bodyPr>
            <a:normAutofit/>
          </a:bodyPr>
          <a:lstStyle/>
          <a:p>
            <a:r>
              <a:rPr lang="en-IN" b="1" dirty="0"/>
              <a:t>Problem Statement 3</a:t>
            </a:r>
          </a:p>
        </p:txBody>
      </p:sp>
      <p:sp>
        <p:nvSpPr>
          <p:cNvPr id="14" name="Rectangle 1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8">
            <a:extLst>
              <a:ext uri="{FF2B5EF4-FFF2-40B4-BE49-F238E27FC236}">
                <a16:creationId xmlns:a16="http://schemas.microsoft.com/office/drawing/2014/main" id="{42596F49-9D61-EA3F-2871-12429DB4E90F}"/>
              </a:ext>
            </a:extLst>
          </p:cNvPr>
          <p:cNvSpPr>
            <a:spLocks noGrp="1"/>
          </p:cNvSpPr>
          <p:nvPr>
            <p:ph idx="1"/>
          </p:nvPr>
        </p:nvSpPr>
        <p:spPr>
          <a:xfrm>
            <a:off x="649225" y="2133600"/>
            <a:ext cx="3650278" cy="3759253"/>
          </a:xfrm>
        </p:spPr>
        <p:txBody>
          <a:bodyPr>
            <a:normAutofit/>
          </a:bodyPr>
          <a:lstStyle/>
          <a:p>
            <a:pPr marL="0" indent="0">
              <a:buNone/>
            </a:pPr>
            <a:r>
              <a:rPr lang="en-US" dirty="0"/>
              <a:t>How does product demand vary over time?</a:t>
            </a:r>
          </a:p>
          <a:p>
            <a:pPr marL="0" indent="0">
              <a:buNone/>
            </a:pPr>
            <a:endParaRPr lang="en-US" b="1" dirty="0"/>
          </a:p>
          <a:p>
            <a:pPr marL="0" indent="0">
              <a:buNone/>
            </a:pPr>
            <a:r>
              <a:rPr lang="en-US" b="1" dirty="0"/>
              <a:t>Insights</a:t>
            </a:r>
            <a:endParaRPr lang="en-US" dirty="0"/>
          </a:p>
          <a:p>
            <a:r>
              <a:rPr lang="en-US" dirty="0"/>
              <a:t>Sales show </a:t>
            </a:r>
            <a:r>
              <a:rPr lang="en-US" b="1" dirty="0"/>
              <a:t>seasonal demand patterns</a:t>
            </a:r>
            <a:r>
              <a:rPr lang="en-US" dirty="0"/>
              <a:t>.</a:t>
            </a:r>
          </a:p>
          <a:p>
            <a:r>
              <a:rPr lang="en-US" dirty="0"/>
              <a:t>Certain months have </a:t>
            </a:r>
            <a:r>
              <a:rPr lang="en-US" b="1" dirty="0"/>
              <a:t>significantly higher order volumes</a:t>
            </a:r>
            <a:r>
              <a:rPr lang="en-US" dirty="0"/>
              <a:t>.</a:t>
            </a:r>
          </a:p>
          <a:p>
            <a:r>
              <a:rPr lang="en-US" dirty="0"/>
              <a:t>Helps with </a:t>
            </a:r>
            <a:r>
              <a:rPr lang="en-US" b="1" dirty="0"/>
              <a:t>inventory planning and forecasting</a:t>
            </a:r>
            <a:r>
              <a:rPr lang="en-US" dirty="0"/>
              <a:t>.</a:t>
            </a:r>
          </a:p>
          <a:p>
            <a:endParaRPr lang="en-US" dirty="0"/>
          </a:p>
        </p:txBody>
      </p:sp>
      <p:pic>
        <p:nvPicPr>
          <p:cNvPr id="5" name="Content Placeholder 4">
            <a:extLst>
              <a:ext uri="{FF2B5EF4-FFF2-40B4-BE49-F238E27FC236}">
                <a16:creationId xmlns:a16="http://schemas.microsoft.com/office/drawing/2014/main" id="{215BDE24-1783-D6F7-91BC-7123EC2238B2}"/>
              </a:ext>
            </a:extLst>
          </p:cNvPr>
          <p:cNvPicPr>
            <a:picLocks noChangeAspect="1"/>
          </p:cNvPicPr>
          <p:nvPr/>
        </p:nvPicPr>
        <p:blipFill>
          <a:blip r:embed="rId2"/>
          <a:stretch>
            <a:fillRect/>
          </a:stretch>
        </p:blipFill>
        <p:spPr>
          <a:xfrm>
            <a:off x="4619543" y="1406384"/>
            <a:ext cx="6953577" cy="3720164"/>
          </a:xfrm>
          <a:prstGeom prst="rect">
            <a:avLst/>
          </a:prstGeom>
        </p:spPr>
      </p:pic>
      <p:sp>
        <p:nvSpPr>
          <p:cNvPr id="1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3635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F94A1-9E60-098E-218A-C0878A74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F66AB-D3D9-EEB5-26EE-380FD16C15B0}"/>
              </a:ext>
            </a:extLst>
          </p:cNvPr>
          <p:cNvSpPr>
            <a:spLocks noGrp="1"/>
          </p:cNvSpPr>
          <p:nvPr>
            <p:ph type="title"/>
          </p:nvPr>
        </p:nvSpPr>
        <p:spPr/>
        <p:txBody>
          <a:bodyPr/>
          <a:lstStyle/>
          <a:p>
            <a:r>
              <a:rPr lang="en-US" dirty="0"/>
              <a:t>Power BI Dashboard</a:t>
            </a:r>
            <a:endParaRPr lang="en-IN" dirty="0"/>
          </a:p>
        </p:txBody>
      </p:sp>
      <p:pic>
        <p:nvPicPr>
          <p:cNvPr id="7" name="Content Placeholder 6">
            <a:extLst>
              <a:ext uri="{FF2B5EF4-FFF2-40B4-BE49-F238E27FC236}">
                <a16:creationId xmlns:a16="http://schemas.microsoft.com/office/drawing/2014/main" id="{17738812-3259-8FA7-3BBC-ACBA3A79FD1B}"/>
              </a:ext>
            </a:extLst>
          </p:cNvPr>
          <p:cNvPicPr>
            <a:picLocks noGrp="1" noChangeAspect="1"/>
          </p:cNvPicPr>
          <p:nvPr>
            <p:ph idx="1"/>
          </p:nvPr>
        </p:nvPicPr>
        <p:blipFill>
          <a:blip r:embed="rId2"/>
          <a:stretch>
            <a:fillRect/>
          </a:stretch>
        </p:blipFill>
        <p:spPr>
          <a:xfrm>
            <a:off x="1728182" y="1264555"/>
            <a:ext cx="9569083" cy="5440487"/>
          </a:xfrm>
          <a:prstGeom prst="rect">
            <a:avLst/>
          </a:prstGeom>
        </p:spPr>
      </p:pic>
    </p:spTree>
    <p:extLst>
      <p:ext uri="{BB962C8B-B14F-4D97-AF65-F5344CB8AC3E}">
        <p14:creationId xmlns:p14="http://schemas.microsoft.com/office/powerpoint/2010/main" val="4003272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83CD0-CB11-C743-BAEE-0CF506241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98306-36A5-68C8-38FF-4119B55AD153}"/>
              </a:ext>
            </a:extLst>
          </p:cNvPr>
          <p:cNvSpPr>
            <a:spLocks noGrp="1"/>
          </p:cNvSpPr>
          <p:nvPr>
            <p:ph type="title"/>
          </p:nvPr>
        </p:nvSpPr>
        <p:spPr/>
        <p:txBody>
          <a:bodyPr/>
          <a:lstStyle/>
          <a:p>
            <a:r>
              <a:rPr lang="en-US" dirty="0"/>
              <a:t>Excel Dashboard</a:t>
            </a:r>
            <a:endParaRPr lang="en-IN" dirty="0"/>
          </a:p>
        </p:txBody>
      </p:sp>
      <p:pic>
        <p:nvPicPr>
          <p:cNvPr id="5" name="Content Placeholder 4">
            <a:extLst>
              <a:ext uri="{FF2B5EF4-FFF2-40B4-BE49-F238E27FC236}">
                <a16:creationId xmlns:a16="http://schemas.microsoft.com/office/drawing/2014/main" id="{A6B7A196-4B9B-B7DF-8F98-0A7111027EAE}"/>
              </a:ext>
            </a:extLst>
          </p:cNvPr>
          <p:cNvPicPr>
            <a:picLocks noGrp="1" noChangeAspect="1"/>
          </p:cNvPicPr>
          <p:nvPr>
            <p:ph idx="1"/>
          </p:nvPr>
        </p:nvPicPr>
        <p:blipFill>
          <a:blip r:embed="rId2"/>
          <a:stretch>
            <a:fillRect/>
          </a:stretch>
        </p:blipFill>
        <p:spPr>
          <a:xfrm>
            <a:off x="687388" y="1620187"/>
            <a:ext cx="11320840" cy="4801170"/>
          </a:xfrm>
          <a:prstGeom prst="rect">
            <a:avLst/>
          </a:prstGeom>
        </p:spPr>
      </p:pic>
    </p:spTree>
    <p:extLst>
      <p:ext uri="{BB962C8B-B14F-4D97-AF65-F5344CB8AC3E}">
        <p14:creationId xmlns:p14="http://schemas.microsoft.com/office/powerpoint/2010/main" val="2218364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C1EC-ABAD-3E87-628F-0ED4AC064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3888C-8AA1-DDA4-D5EB-1EEEA424AADE}"/>
              </a:ext>
            </a:extLst>
          </p:cNvPr>
          <p:cNvSpPr>
            <a:spLocks noGrp="1"/>
          </p:cNvSpPr>
          <p:nvPr>
            <p:ph type="title"/>
          </p:nvPr>
        </p:nvSpPr>
        <p:spPr/>
        <p:txBody>
          <a:bodyPr/>
          <a:lstStyle/>
          <a:p>
            <a:r>
              <a:rPr lang="en-US" b="1" dirty="0"/>
              <a:t>Key Insights</a:t>
            </a:r>
            <a:endParaRPr lang="en-IN" b="1" dirty="0"/>
          </a:p>
        </p:txBody>
      </p:sp>
      <p:sp>
        <p:nvSpPr>
          <p:cNvPr id="3" name="Content Placeholder 2">
            <a:extLst>
              <a:ext uri="{FF2B5EF4-FFF2-40B4-BE49-F238E27FC236}">
                <a16:creationId xmlns:a16="http://schemas.microsoft.com/office/drawing/2014/main" id="{642193CA-BB8A-D322-65BA-FCB3940E3635}"/>
              </a:ext>
            </a:extLst>
          </p:cNvPr>
          <p:cNvSpPr>
            <a:spLocks noGrp="1"/>
          </p:cNvSpPr>
          <p:nvPr>
            <p:ph idx="1"/>
          </p:nvPr>
        </p:nvSpPr>
        <p:spPr/>
        <p:txBody>
          <a:bodyPr/>
          <a:lstStyle/>
          <a:p>
            <a:r>
              <a:rPr lang="en-US" dirty="0"/>
              <a:t>Revenue is concentrated among a small group of repeat customers.</a:t>
            </a:r>
          </a:p>
          <a:p>
            <a:r>
              <a:rPr lang="en-US" dirty="0"/>
              <a:t>Beverages is the highest revenue-generating category.</a:t>
            </a:r>
          </a:p>
          <a:p>
            <a:r>
              <a:rPr lang="en-US" dirty="0"/>
              <a:t>Product demand shows seasonal fluctuations.</a:t>
            </a:r>
          </a:p>
          <a:p>
            <a:r>
              <a:rPr lang="en-US" dirty="0"/>
              <a:t>Some suppliers dominate multiple product categories, indicating dependency risk.</a:t>
            </a:r>
          </a:p>
          <a:p>
            <a:r>
              <a:rPr lang="en-US" dirty="0"/>
              <a:t>Price and stock levels show weak correlation with sales, suggesting demand depends more on product type.</a:t>
            </a:r>
            <a:endParaRPr lang="en-IN" dirty="0"/>
          </a:p>
        </p:txBody>
      </p:sp>
    </p:spTree>
    <p:extLst>
      <p:ext uri="{BB962C8B-B14F-4D97-AF65-F5344CB8AC3E}">
        <p14:creationId xmlns:p14="http://schemas.microsoft.com/office/powerpoint/2010/main" val="3937852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9502-CBE4-65B0-608A-A370201E8D25}"/>
              </a:ext>
            </a:extLst>
          </p:cNvPr>
          <p:cNvSpPr>
            <a:spLocks noGrp="1"/>
          </p:cNvSpPr>
          <p:nvPr>
            <p:ph type="title"/>
          </p:nvPr>
        </p:nvSpPr>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CEE13136-D988-DEAE-F50B-9BEB91C1FC73}"/>
              </a:ext>
            </a:extLst>
          </p:cNvPr>
          <p:cNvSpPr>
            <a:spLocks noGrp="1"/>
          </p:cNvSpPr>
          <p:nvPr>
            <p:ph idx="1"/>
          </p:nvPr>
        </p:nvSpPr>
        <p:spPr/>
        <p:txBody>
          <a:bodyPr/>
          <a:lstStyle/>
          <a:p>
            <a:pPr marL="0" indent="0">
              <a:buNone/>
            </a:pPr>
            <a:r>
              <a:rPr lang="en-US" dirty="0"/>
              <a:t>This project demonstrates how data analytics and business intelligence tools can uncover meaningful insights from operational data.</a:t>
            </a:r>
          </a:p>
          <a:p>
            <a:pPr marL="0" indent="0">
              <a:buNone/>
            </a:pPr>
            <a:r>
              <a:rPr lang="en-US" dirty="0"/>
              <a:t>Through EDA, statistical analysis, and dashboard development, the project identified:</a:t>
            </a:r>
          </a:p>
          <a:p>
            <a:r>
              <a:rPr lang="en-US" dirty="0"/>
              <a:t>Customer purchasing patterns</a:t>
            </a:r>
          </a:p>
          <a:p>
            <a:r>
              <a:rPr lang="en-US" dirty="0"/>
              <a:t>Revenue-driving products</a:t>
            </a:r>
          </a:p>
          <a:p>
            <a:r>
              <a:rPr lang="en-US" dirty="0"/>
              <a:t>Seasonal demand trends</a:t>
            </a:r>
          </a:p>
        </p:txBody>
      </p:sp>
    </p:spTree>
    <p:extLst>
      <p:ext uri="{BB962C8B-B14F-4D97-AF65-F5344CB8AC3E}">
        <p14:creationId xmlns:p14="http://schemas.microsoft.com/office/powerpoint/2010/main" val="215452687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147</TotalTime>
  <Words>1786</Words>
  <Application>Microsoft Office PowerPoint</Application>
  <PresentationFormat>Widescreen</PresentationFormat>
  <Paragraphs>498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 Narrow</vt:lpstr>
      <vt:lpstr>Arial</vt:lpstr>
      <vt:lpstr>Century Gothic</vt:lpstr>
      <vt:lpstr>Wingdings 3</vt:lpstr>
      <vt:lpstr>Wisp</vt:lpstr>
      <vt:lpstr>Northwind Sales Analytics</vt:lpstr>
      <vt:lpstr>Project Overview</vt:lpstr>
      <vt:lpstr>Project Objective</vt:lpstr>
      <vt:lpstr>Data Dictionary</vt:lpstr>
      <vt:lpstr>Data Dictionary</vt:lpstr>
      <vt:lpstr>Data Dictionary</vt:lpstr>
      <vt:lpstr>Data Dictionary</vt:lpstr>
      <vt:lpstr>Data Dictionary</vt:lpstr>
      <vt:lpstr>Data Dictionary</vt:lpstr>
      <vt:lpstr>Data Dictionary</vt:lpstr>
      <vt:lpstr>Data Dictionary</vt:lpstr>
      <vt:lpstr>ER diagram</vt:lpstr>
      <vt:lpstr>Problem Statement 1</vt:lpstr>
      <vt:lpstr>Problem Statement 2</vt:lpstr>
      <vt:lpstr>Problem Statement 3</vt:lpstr>
      <vt:lpstr>Power BI Dashboard</vt:lpstr>
      <vt:lpstr>Excel Dashboard</vt:lpstr>
      <vt:lpstr>Key Insights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Tarun Singhal</dc:creator>
  <cp:lastModifiedBy>Tarun Singhal</cp:lastModifiedBy>
  <cp:revision>3</cp:revision>
  <dcterms:created xsi:type="dcterms:W3CDTF">2026-03-12T17:02:38Z</dcterms:created>
  <dcterms:modified xsi:type="dcterms:W3CDTF">2026-03-12T19:31:22Z</dcterms:modified>
</cp:coreProperties>
</file>